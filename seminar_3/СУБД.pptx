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4121" r:id="rId2"/>
  </p:sldMasterIdLst>
  <p:notesMasterIdLst>
    <p:notesMasterId r:id="rId59"/>
  </p:notesMasterIdLst>
  <p:handoutMasterIdLst>
    <p:handoutMasterId r:id="rId60"/>
  </p:handoutMasterIdLst>
  <p:sldIdLst>
    <p:sldId id="316" r:id="rId3"/>
    <p:sldId id="326" r:id="rId4"/>
    <p:sldId id="419" r:id="rId5"/>
    <p:sldId id="327" r:id="rId6"/>
    <p:sldId id="329" r:id="rId7"/>
    <p:sldId id="42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71" r:id="rId17"/>
    <p:sldId id="372" r:id="rId18"/>
    <p:sldId id="420" r:id="rId19"/>
    <p:sldId id="423" r:id="rId20"/>
    <p:sldId id="373" r:id="rId21"/>
    <p:sldId id="428" r:id="rId22"/>
    <p:sldId id="424" r:id="rId23"/>
    <p:sldId id="425" r:id="rId24"/>
    <p:sldId id="426" r:id="rId25"/>
    <p:sldId id="427" r:id="rId26"/>
    <p:sldId id="330" r:id="rId27"/>
    <p:sldId id="331" r:id="rId28"/>
    <p:sldId id="332" r:id="rId29"/>
    <p:sldId id="333" r:id="rId30"/>
    <p:sldId id="334" r:id="rId31"/>
    <p:sldId id="335" r:id="rId32"/>
    <p:sldId id="430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75" r:id="rId53"/>
    <p:sldId id="378" r:id="rId54"/>
    <p:sldId id="379" r:id="rId55"/>
    <p:sldId id="409" r:id="rId56"/>
    <p:sldId id="410" r:id="rId57"/>
    <p:sldId id="411" r:id="rId58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1D0601"/>
    <a:srgbClr val="1D0201"/>
    <a:srgbClr val="0D0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5" autoAdjust="0"/>
    <p:restoredTop sz="94711" autoAdjust="0"/>
  </p:normalViewPr>
  <p:slideViewPr>
    <p:cSldViewPr>
      <p:cViewPr varScale="1">
        <p:scale>
          <a:sx n="128" d="100"/>
          <a:sy n="128" d="100"/>
        </p:scale>
        <p:origin x="169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92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332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1.xml"/><Relationship Id="rId2" Type="http://schemas.openxmlformats.org/officeDocument/2006/relationships/slide" Target="slides/slide9.xml"/><Relationship Id="rId1" Type="http://schemas.openxmlformats.org/officeDocument/2006/relationships/slide" Target="slides/slide1.xml"/><Relationship Id="rId5" Type="http://schemas.openxmlformats.org/officeDocument/2006/relationships/slide" Target="slides/slide24.xml"/><Relationship Id="rId4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CC440-CCDD-4813-8705-63151E9A550F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/ 90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D2F6F2-849C-4299-B37B-1A8086B2490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3448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63E51CAE-1DDF-4858-8898-C96B0B5C54BB}" type="datetimeFigureOut">
              <a:rPr lang="ru-RU" altLang="ru-RU"/>
              <a:pPr>
                <a:defRPr/>
              </a:pPr>
              <a:t>15.02.2026</a:t>
            </a:fld>
            <a:endParaRPr lang="ru-RU" altLang="ru-RU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noProof="0"/>
              <a:t>Образец текста</a:t>
            </a:r>
          </a:p>
          <a:p>
            <a:pPr lvl="1"/>
            <a:r>
              <a:rPr lang="ru-RU" altLang="ru-RU" noProof="0"/>
              <a:t>Второй уровень</a:t>
            </a:r>
          </a:p>
          <a:p>
            <a:pPr lvl="2"/>
            <a:r>
              <a:rPr lang="ru-RU" altLang="ru-RU" noProof="0"/>
              <a:t>Третий уровень</a:t>
            </a:r>
          </a:p>
          <a:p>
            <a:pPr lvl="3"/>
            <a:r>
              <a:rPr lang="ru-RU" altLang="ru-RU" noProof="0"/>
              <a:t>Четвертый уровень</a:t>
            </a:r>
          </a:p>
          <a:p>
            <a:pPr lvl="4"/>
            <a:r>
              <a:rPr lang="ru-RU" altLang="ru-RU" noProof="0"/>
              <a:t>Пятый уровень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ru-RU" altLang="ru-RU"/>
              <a:t>/ 90</a:t>
            </a:r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F5050944-35D1-4B75-84DD-ADE397D8DB7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578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reference/method/db.collection.save/#db.collection.save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altLang="ru-RU">
                <a:latin typeface="Arial" panose="020B0604020202020204" pitchFamily="34" charset="0"/>
              </a:rPr>
              <a:t>Flexible schema</a:t>
            </a:r>
          </a:p>
          <a:p>
            <a:r>
              <a:rPr lang="hu-HU" altLang="ru-RU">
                <a:latin typeface="Arial" panose="020B0604020202020204" pitchFamily="34" charset="0"/>
              </a:rPr>
              <a:t>Javascript</a:t>
            </a:r>
          </a:p>
          <a:p>
            <a:endParaRPr lang="hu-HU" altLang="ru-RU">
              <a:latin typeface="Arial" panose="020B0604020202020204" pitchFamily="34" charset="0"/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167465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altLang="ru-RU">
                <a:latin typeface="Arial" panose="020B0604020202020204" pitchFamily="34" charset="0"/>
              </a:rPr>
              <a:t>Create</a:t>
            </a:r>
          </a:p>
          <a:p>
            <a:pPr lvl="1">
              <a:buFontTx/>
              <a:buChar char="•"/>
            </a:pPr>
            <a:r>
              <a:rPr lang="hu-HU" altLang="ru-RU">
                <a:latin typeface="Arial" panose="020B0604020202020204" pitchFamily="34" charset="0"/>
              </a:rPr>
              <a:t>The field name _id is reserved for use as a primary key; its value must be unique in the collection, is immutable, and may be of any type other than an array. </a:t>
            </a:r>
          </a:p>
          <a:p>
            <a:pPr lvl="1">
              <a:buFontTx/>
              <a:buChar char="•"/>
            </a:pPr>
            <a:r>
              <a:rPr lang="hu-HU" altLang="ru-RU">
                <a:latin typeface="Arial" panose="020B0604020202020204" pitchFamily="34" charset="0"/>
              </a:rPr>
              <a:t>The field names </a:t>
            </a:r>
            <a:r>
              <a:rPr lang="hu-HU" altLang="ru-RU" b="1">
                <a:latin typeface="Arial" panose="020B0604020202020204" pitchFamily="34" charset="0"/>
              </a:rPr>
              <a:t>cannot</a:t>
            </a:r>
            <a:r>
              <a:rPr lang="hu-HU" altLang="ru-RU">
                <a:latin typeface="Arial" panose="020B0604020202020204" pitchFamily="34" charset="0"/>
              </a:rPr>
              <a:t> start with the $ character. </a:t>
            </a:r>
          </a:p>
          <a:p>
            <a:pPr lvl="1">
              <a:buFontTx/>
              <a:buChar char="•"/>
            </a:pPr>
            <a:r>
              <a:rPr lang="hu-HU" altLang="ru-RU">
                <a:latin typeface="Arial" panose="020B0604020202020204" pitchFamily="34" charset="0"/>
              </a:rPr>
              <a:t>The field names </a:t>
            </a:r>
            <a:r>
              <a:rPr lang="hu-HU" altLang="ru-RU" b="1">
                <a:latin typeface="Arial" panose="020B0604020202020204" pitchFamily="34" charset="0"/>
              </a:rPr>
              <a:t>cannot</a:t>
            </a:r>
            <a:r>
              <a:rPr lang="hu-HU" altLang="ru-RU">
                <a:latin typeface="Arial" panose="020B0604020202020204" pitchFamily="34" charset="0"/>
              </a:rPr>
              <a:t> contain the . character. </a:t>
            </a:r>
          </a:p>
          <a:p>
            <a:r>
              <a:rPr lang="hu-HU" altLang="ru-RU">
                <a:latin typeface="Arial" panose="020B0604020202020204" pitchFamily="34" charset="0"/>
              </a:rPr>
              <a:t>   Create with save</a:t>
            </a:r>
          </a:p>
          <a:p>
            <a:pPr lvl="2">
              <a:buFontTx/>
              <a:buChar char="•"/>
            </a:pPr>
            <a:r>
              <a:rPr lang="hu-HU" altLang="ru-RU">
                <a:latin typeface="Arial" panose="020B0604020202020204" pitchFamily="34" charset="0"/>
              </a:rPr>
              <a:t>If the &lt;document&gt; argument does not contain the _id field or contains an _id field with a value not in the collection, the </a:t>
            </a:r>
            <a:r>
              <a:rPr lang="hu-HU" altLang="ru-RU">
                <a:latin typeface="Arial" panose="020B0604020202020204" pitchFamily="34" charset="0"/>
                <a:hlinkClick r:id="rId3" tooltip="db.collection.save"/>
              </a:rPr>
              <a:t>save()</a:t>
            </a:r>
            <a:r>
              <a:rPr lang="hu-HU" altLang="ru-RU">
                <a:latin typeface="Arial" panose="020B0604020202020204" pitchFamily="34" charset="0"/>
              </a:rPr>
              <a:t> method performs an insert of the document. </a:t>
            </a:r>
          </a:p>
          <a:p>
            <a:pPr lvl="2">
              <a:buFontTx/>
              <a:buChar char="•"/>
            </a:pPr>
            <a:r>
              <a:rPr lang="hu-HU" altLang="ru-RU">
                <a:latin typeface="Arial" panose="020B0604020202020204" pitchFamily="34" charset="0"/>
              </a:rPr>
              <a:t>Otherwise, the </a:t>
            </a:r>
            <a:r>
              <a:rPr lang="hu-HU" altLang="ru-RU">
                <a:latin typeface="Arial" panose="020B0604020202020204" pitchFamily="34" charset="0"/>
                <a:hlinkClick r:id="rId3" tooltip="db.collection.save"/>
              </a:rPr>
              <a:t>save()</a:t>
            </a:r>
            <a:r>
              <a:rPr lang="hu-HU" altLang="ru-RU">
                <a:latin typeface="Arial" panose="020B0604020202020204" pitchFamily="34" charset="0"/>
              </a:rPr>
              <a:t> method performs an update. </a:t>
            </a:r>
          </a:p>
          <a:p>
            <a:r>
              <a:rPr lang="hu-HU" altLang="ru-RU">
                <a:latin typeface="Arial" panose="020B0604020202020204" pitchFamily="34" charset="0"/>
              </a:rPr>
              <a:t>sds</a:t>
            </a: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936380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Ориентированный граф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Ориентированный граф — это граф, ребро которого имеет заданное направление между вершинами.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Петля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вершина графа соединена ребром сама с собой, то такое ребро называется петлей.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38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2207730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Связанный граф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из любой вершины есть путь до любой другой — такой граф называется связанным.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Сильно связанный граф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 называется сильно связанным, если любая его вершина соединена с любой другой ребром. Если связи ориентированные — то граф называется ориентированно связанным.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Взвешенный граф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к каждому ребру в соответствие поставлено некоторое число (вес ребра) — такой граф называется взвешенным.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Мультиграф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Граф, в котором разрешается присутствие параллельных ребер, то есть ребер, имеющих те же самые конечные вершины. Параллельные ребра выделены красным.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39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1492151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Графовые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БД изначально ориентированы на связи между объектами, и эти связи могут иметь разные характеристики. 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Например, если заказчик требует разработать базу данных сериалов, где к каждому эпизоду каждого сериала относятся различные актеры, самым очевидным образом вырисовывается иерархическая модель, которая прекрасно ложится в документарную базу данных. Однако, как только заказчик говорит: «Слушайте, а давайте наша система будет также в один клик выводить фильмографию актеров», вся иерархия рассыпается и приходится либо дорабатывать БД (долго и мучительно), либо менять формат хранения данных.</a:t>
            </a:r>
            <a:b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649770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пример </a:t>
            </a:r>
            <a:r>
              <a:rPr lang="ru-RU" dirty="0" err="1"/>
              <a:t>заспросов</a:t>
            </a:r>
            <a:r>
              <a:rPr lang="ru-RU" dirty="0"/>
              <a:t> в </a:t>
            </a:r>
            <a:r>
              <a:rPr lang="en-US" dirty="0"/>
              <a:t>Neo4j </a:t>
            </a:r>
            <a:r>
              <a:rPr lang="ru-RU" dirty="0"/>
              <a:t>на примере БД,</a:t>
            </a:r>
            <a:r>
              <a:rPr lang="ru-RU" baseline="0" dirty="0"/>
              <a:t> в которую входят актёры и фильмы/сериалы, в которых они снимались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2510083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 —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аналог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WHERE,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круглых скобках мы описываем свойства вершины (условие поиска), а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аналог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SELECT,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нем мы описываем, что вернуть.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2882044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поищем фильмы, в которых снимался Том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Хэнкс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 усложнился, в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описали вершины обоих типов, и отношение между ними (ребро) в квадратных скобках.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2844066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Текст запроса приближен к текстовому отображению графа.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 вершины типа </a:t>
            </a:r>
            <a:r>
              <a:rPr lang="ru-RU" dirty="0" err="1"/>
              <a:t>Person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с именем </a:t>
            </a:r>
            <a:r>
              <a:rPr lang="ru-RU" dirty="0" err="1"/>
              <a:t>Tom</a:t>
            </a:r>
            <a:r>
              <a:rPr lang="ru-RU" dirty="0"/>
              <a:t> </a:t>
            </a:r>
            <a:r>
              <a:rPr lang="ru-RU" dirty="0" err="1"/>
              <a:t>Hanks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 ребру </a:t>
            </a:r>
            <a:r>
              <a:rPr lang="ru-RU" dirty="0"/>
              <a:t>ACTED_IN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находятся все вершины </a:t>
            </a:r>
            <a:r>
              <a:rPr lang="ru-RU" dirty="0" err="1"/>
              <a:t>Movie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 которых снимался актер, от вершин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типа</a:t>
            </a:r>
            <a:r>
              <a:rPr lang="ru-RU" dirty="0" err="1"/>
              <a:t>Movie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 связи </a:t>
            </a:r>
            <a:r>
              <a:rPr lang="ru-RU" dirty="0"/>
              <a:t>ACTED_IN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идет поиск всех актеров, снявшихся в каждом найденном фильме соответственно.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2550743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 вашем приложении планируется много сущностей и связей многие-ко-многим, то это один из признаков, что предпочтительней выбрать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графовую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СУБД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(утверждение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Martin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Kleppmann’а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книге “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Designing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Intensive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”).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если у вас уже есть приложение с множеством связей, и обход этих связей занимает много времени и ресурсов — стоит присмотреться в сторону графов, т.к. обход связей в них практически ничего не стоит.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98C959-E5FA-4F86-ACC0-0866C13C3E2B}" type="slidenum">
              <a:rPr lang="ru-RU" smtClean="0"/>
              <a:t>45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 altLang="ru-RU"/>
              <a:t>/ 90</a:t>
            </a:r>
          </a:p>
        </p:txBody>
      </p:sp>
    </p:spTree>
    <p:extLst>
      <p:ext uri="{BB962C8B-B14F-4D97-AF65-F5344CB8AC3E}">
        <p14:creationId xmlns:p14="http://schemas.microsoft.com/office/powerpoint/2010/main" val="157495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603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altLang="ru-RU" noProof="0"/>
              <a:t>Образец заголовка</a:t>
            </a:r>
          </a:p>
        </p:txBody>
      </p:sp>
      <p:sp>
        <p:nvSpPr>
          <p:cNvPr id="8603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alt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570DF4-CE5D-4D60-A2D0-E0FC9922F1E3}" type="datetime1">
              <a:rPr lang="ru-RU" altLang="ru-RU" smtClean="0"/>
              <a:t>15.02.2026</a:t>
            </a:fld>
            <a:endParaRPr lang="ru-RU" alt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37D01-F1D8-458E-BB90-AD5E57A1C71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81573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1A9B2-D4D8-430A-9B97-CD7626AC306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7FB90-EE9A-49BE-B1D8-2327F6EBBB46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4508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76ECB6-3BBC-40E7-9853-BC2AE56C9CA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0A053-275C-44A6-8503-994F38EC9E3B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5079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A6618-1865-4C4E-AE4F-CB5285B5BE0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0E771-A15E-42D5-ADE4-B1B74C726105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9364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7AFA1-CE1A-457B-BA34-4B433BCBA4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296CF-D8EA-4129-B8E4-5D59FAF723EA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50888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A93FB-7593-41A3-9C3D-4B2A299F2CC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ED80D-B09A-4FB8-A3D0-CBE87AC4714B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475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9B474-8571-4756-A3FB-7EB5BEA773A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92D66-3DBB-4C0B-AB86-8F0FD913FFC9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1320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84912A-830C-4E48-974A-B9CD9CF1254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E6055-15CC-4B45-8019-364C79B970F1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312570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9D4DE4-C3BD-45F1-9D88-9D7A4F7DB01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5A9DF-9336-4749-B9A5-118BB2D21E66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5357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BBE38F-5764-4AE7-B6BE-EEA10767BB9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B3710-8F3F-4120-9F0D-55CB508B0849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9550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D52BA-E8C1-4A62-AEA9-A36BB613DB3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9EE65-AD24-490F-A3EA-FE10CF758FA4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5368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9115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9115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49E1F-FA31-4ED5-9439-74FBE52C52C7}" type="datetime1">
              <a:rPr lang="ru-RU" altLang="ru-RU" smtClean="0"/>
              <a:t>15.02.2026</a:t>
            </a:fld>
            <a:endParaRPr lang="ru-RU" alt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6DC9-A3B4-442B-8330-FCBBFFF4BF8F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39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22592-9BE0-4B65-8BE7-E983F830BF4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A34FC-0469-461A-AA77-961B648D879D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5172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65009-65CC-45CF-81D0-6AA60B6DD29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1D0B-6DFB-48AC-9B28-BB9FAFE4DF30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11124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0EAB3-5692-45A8-B913-BD41AE69DEA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C221B-8A70-4D53-967C-2B354F895F7D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085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2E7D2-2B1F-4121-BE55-85F3138A805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DEB02-77FE-484D-AAC9-192F6671B7A9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120430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FBB24-C568-428C-9692-41CB418F192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73B9C8-B731-43A4-BC06-5F1AD56CCAEA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59066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719F6-B7E8-4F3E-B20E-A03E8395F5A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C65B72-62B1-4002-AF9A-C58A847578D6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578928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FE6F4-3138-4E8A-9334-A588EC19EB9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02FEC-B6BF-4FE3-AC45-27FF3CE6BFAF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99064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7423F-F620-46F8-9BB0-0EADCFED615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937B7-FF65-40BB-82E5-E0E13E7DE295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54897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3FED3-CD52-4F8B-91BE-9F025E2C91F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97E95-583F-407A-A02F-E99ED614BA36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40544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AA810-0EEE-40FF-A746-933ED62EC0B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365CC-4DDB-4E7F-8697-ECB7B8DF9232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290714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r>
              <a:rPr lang="ru-RU" noProof="0"/>
              <a:t>Вставка таблицы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5039BD-1BA7-412D-A00D-2D2F3CDFAD2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21094-169B-47B5-A060-9353000A827C}" type="datetime1">
              <a:rPr lang="ru-RU" altLang="ru-RU" smtClean="0"/>
              <a:t>15.02.2026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722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6A4C9DE-2E6B-4974-B3D9-13776FEBBAF9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8500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D8ADAB0B-2625-497F-83D7-8901E82B17CD}" type="datetime1">
              <a:rPr lang="ru-RU" altLang="ru-RU" smtClean="0"/>
              <a:t>15.02.2026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10" r:id="rId2"/>
    <p:sldLayoutId id="2147484111" r:id="rId3"/>
    <p:sldLayoutId id="2147484112" r:id="rId4"/>
    <p:sldLayoutId id="2147484113" r:id="rId5"/>
    <p:sldLayoutId id="2147484114" r:id="rId6"/>
    <p:sldLayoutId id="2147484115" r:id="rId7"/>
    <p:sldLayoutId id="2147484116" r:id="rId8"/>
    <p:sldLayoutId id="2147484117" r:id="rId9"/>
    <p:sldLayoutId id="2147484118" r:id="rId10"/>
    <p:sldLayoutId id="214748411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8B5039BD-1BA7-412D-A00D-2D2F3CDFAD2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012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fld id="{F6857595-9D6E-4CB5-A120-E410B1940BD2}" type="datetime1">
              <a:rPr lang="ru-RU" altLang="ru-RU" smtClean="0"/>
              <a:t>15.02.2026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23" r:id="rId2"/>
    <p:sldLayoutId id="2147484124" r:id="rId3"/>
    <p:sldLayoutId id="2147484125" r:id="rId4"/>
    <p:sldLayoutId id="2147484126" r:id="rId5"/>
    <p:sldLayoutId id="2147484127" r:id="rId6"/>
    <p:sldLayoutId id="2147484128" r:id="rId7"/>
    <p:sldLayoutId id="2147484129" r:id="rId8"/>
    <p:sldLayoutId id="2147484130" r:id="rId9"/>
    <p:sldLayoutId id="2147484131" r:id="rId10"/>
    <p:sldLayoutId id="2147484132" r:id="rId11"/>
    <p:sldLayoutId id="2147484133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jpg"/><Relationship Id="rId7" Type="http://schemas.openxmlformats.org/officeDocument/2006/relationships/oleObject" Target="file:///C:/USR/Karpova/Online/VSD/&#1057;&#1093;&#1077;&#1084;&#1099;_PPT.vsdx/Drawing/~&#1056;&#1041;&#1044;/Rounded%20Rectangle.57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emf"/><Relationship Id="rId4" Type="http://schemas.openxmlformats.org/officeDocument/2006/relationships/image" Target="../media/image3.jpg"/><Relationship Id="rId9" Type="http://schemas.openxmlformats.org/officeDocument/2006/relationships/oleObject" Target="file:///C:/USR/Karpova/Online/VSD/&#1057;&#1093;&#1077;&#1084;&#1099;_PPT.vsdx/Drawing/~&#1056;&#1041;&#1044;/Rounded%20Rectangl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habr.com/ru/companies/oleg-bunin/articles/433370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eo4j-create-index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hyperlink" Target="https://dev-gang.ru/article/kak-rabotaet-indeksacija-v-baze-dannyh-nebulagraph-dmqs0j9s9r/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db-engines.com/en/ranking/relational+dbms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treambase.com/" TargetMode="External"/><Relationship Id="rId3" Type="http://schemas.openxmlformats.org/officeDocument/2006/relationships/hyperlink" Target="http://citforum.ru/database/articles/stream_8_req/" TargetMode="External"/><Relationship Id="rId7" Type="http://schemas.openxmlformats.org/officeDocument/2006/relationships/hyperlink" Target="http://www.storagenews.ru/" TargetMode="External"/><Relationship Id="rId2" Type="http://schemas.openxmlformats.org/officeDocument/2006/relationships/hyperlink" Target="http://citforum.ru/database/articles/20030520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abr.com/ru/post/441538/" TargetMode="External"/><Relationship Id="rId5" Type="http://schemas.openxmlformats.org/officeDocument/2006/relationships/hyperlink" Target="http://citforum.ru/database/articles/dw_appliance_and_mr/" TargetMode="External"/><Relationship Id="rId10" Type="http://schemas.openxmlformats.org/officeDocument/2006/relationships/hyperlink" Target="https://habr.com/ru/companies/vk/articles/562192/" TargetMode="External"/><Relationship Id="rId4" Type="http://schemas.openxmlformats.org/officeDocument/2006/relationships/hyperlink" Target="http://citforum.ru/database/articles/pathology/" TargetMode="External"/><Relationship Id="rId9" Type="http://schemas.openxmlformats.org/officeDocument/2006/relationships/hyperlink" Target="http://www.sqlstream.com/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dbdb.io/db/scidb" TargetMode="External"/><Relationship Id="rId13" Type="http://schemas.openxmlformats.org/officeDocument/2006/relationships/hyperlink" Target="https://www.databridgemarketresearch.com/ru/reports/global-relational-database-market" TargetMode="External"/><Relationship Id="rId3" Type="http://schemas.openxmlformats.org/officeDocument/2006/relationships/hyperlink" Target="https://sofakingcode.medium.com/&#1101;&#1082;&#1089;&#1082;&#1091;&#1088;&#1089;-&#1074;-&#1075;&#1088;&#1072;&#1092;&#1086;&#1074;&#1072;&#1103;-&#1073;&#1072;&#1079;&#1091;-&#1076;&#1072;&#1085;&#1085;&#1099;&#1093;-neo4j-9d5c515186e8" TargetMode="External"/><Relationship Id="rId7" Type="http://schemas.openxmlformats.org/officeDocument/2006/relationships/hyperlink" Target="http://scidb.sourceforge.net/" TargetMode="External"/><Relationship Id="rId12" Type="http://schemas.openxmlformats.org/officeDocument/2006/relationships/hyperlink" Target="https://www.postgresql.org/docs/9.0/hstore.html" TargetMode="External"/><Relationship Id="rId2" Type="http://schemas.openxmlformats.org/officeDocument/2006/relationships/hyperlink" Target="http://www.bookre.org/reader?file=22282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tatsoft.ru/products/Enterprise/big-data.php" TargetMode="External"/><Relationship Id="rId11" Type="http://schemas.openxmlformats.org/officeDocument/2006/relationships/hyperlink" Target="https://habr.com/ru/company/fpi_russia/blog/315886/" TargetMode="External"/><Relationship Id="rId5" Type="http://schemas.openxmlformats.org/officeDocument/2006/relationships/hyperlink" Target="http://www.jetinfo.ru/author/sergej-artemov/bolshie-dannye-bolshaya-problema" TargetMode="External"/><Relationship Id="rId10" Type="http://schemas.openxmlformats.org/officeDocument/2006/relationships/hyperlink" Target="https://ru.bmstu.wiki/NoSQL" TargetMode="External"/><Relationship Id="rId4" Type="http://schemas.openxmlformats.org/officeDocument/2006/relationships/hyperlink" Target="http://www.tadviser.ru/index.php/&#1057;&#1090;&#1072;&#1090;&#1100;&#1103;:&#1041;&#1086;&#1083;&#1100;&#1096;&#1080;&#1077;_&#1076;&#1072;&#1085;&#1085;&#1099;&#1077;_(Big_Data)" TargetMode="External"/><Relationship Id="rId9" Type="http://schemas.openxmlformats.org/officeDocument/2006/relationships/hyperlink" Target="https://www.mongo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24300" y="2468563"/>
            <a:ext cx="5067300" cy="1031875"/>
          </a:xfrm>
        </p:spPr>
        <p:txBody>
          <a:bodyPr/>
          <a:lstStyle/>
          <a:p>
            <a:pPr eaLnBrk="1" hangingPunct="1"/>
            <a:r>
              <a:rPr lang="ru-RU" altLang="ru-RU" dirty="0"/>
              <a:t>Базы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267200"/>
            <a:ext cx="8251825" cy="1249363"/>
          </a:xfrm>
        </p:spPr>
        <p:txBody>
          <a:bodyPr/>
          <a:lstStyle/>
          <a:p>
            <a:pPr algn="r" eaLnBrk="1" hangingPunct="1"/>
            <a:r>
              <a:rPr lang="ru-RU" altLang="ru-RU" dirty="0"/>
              <a:t>Проблемы и перспективы развития технологии баз данных</a:t>
            </a:r>
          </a:p>
        </p:txBody>
      </p:sp>
      <p:sp>
        <p:nvSpPr>
          <p:cNvPr id="3076" name="TextBox 1"/>
          <p:cNvSpPr txBox="1">
            <a:spLocks noChangeArrowheads="1"/>
          </p:cNvSpPr>
          <p:nvPr/>
        </p:nvSpPr>
        <p:spPr bwMode="auto">
          <a:xfrm>
            <a:off x="899592" y="115888"/>
            <a:ext cx="8209483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Нужно бежать со всех ног, чтобы только оставаться на месте, </a:t>
            </a:r>
          </a:p>
          <a:p>
            <a:pPr algn="r" eaLnBrk="1" hangingPunct="1">
              <a:spcBef>
                <a:spcPts val="0"/>
              </a:spcBef>
              <a:buClrTx/>
              <a:buSzTx/>
              <a:buFontTx/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чтобы куда-то попасть, надо бежать как минимум вдвое быстрее!</a:t>
            </a:r>
            <a:r>
              <a:rPr lang="ru-RU" alt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pPr algn="r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ru-RU" alt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Льюис Кэрролл, "Алиса в стране чудес"</a:t>
            </a:r>
            <a:endParaRPr lang="ru-RU" altLang="ru-RU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85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1" y="332656"/>
            <a:ext cx="6635080" cy="576064"/>
          </a:xfrm>
        </p:spPr>
        <p:txBody>
          <a:bodyPr/>
          <a:lstStyle/>
          <a:p>
            <a:pPr eaLnBrk="1" hangingPunct="1"/>
            <a:r>
              <a:rPr lang="ru-RU" altLang="ru-RU" sz="3600" dirty="0"/>
              <a:t>Предпосылки</a:t>
            </a:r>
            <a:r>
              <a:rPr lang="en-US" altLang="ru-RU" sz="3600" dirty="0"/>
              <a:t> </a:t>
            </a:r>
            <a:r>
              <a:rPr lang="ru-RU" altLang="ru-RU" sz="3600" dirty="0"/>
              <a:t>развития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672" y="1784885"/>
            <a:ext cx="4248472" cy="491987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ru-RU" sz="2000" dirty="0"/>
              <a:t>2. </a:t>
            </a:r>
            <a:r>
              <a:rPr lang="ru-RU" altLang="ru-RU" sz="2000" dirty="0"/>
              <a:t>Увеличение объема данных.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6902896" y="6248400"/>
            <a:ext cx="2133600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2</a:t>
            </a:fld>
            <a:endParaRPr lang="ru-RU" alt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582872"/>
            <a:ext cx="3261368" cy="1712218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64" y="1208821"/>
            <a:ext cx="1496786" cy="996043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1619672" y="920789"/>
            <a:ext cx="4471103" cy="85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Font typeface="Wingdings" pitchFamily="2" charset="2"/>
              <a:buNone/>
            </a:pPr>
            <a:r>
              <a:rPr lang="en-US" altLang="ru-RU" sz="2000" kern="0" dirty="0"/>
              <a:t>1. </a:t>
            </a:r>
            <a:r>
              <a:rPr lang="ru-RU" altLang="ru-RU" sz="2000" kern="0" dirty="0"/>
              <a:t>Изменение характера задач: </a:t>
            </a:r>
            <a:endParaRPr lang="en-US" altLang="ru-RU" sz="2000" kern="0" dirty="0"/>
          </a:p>
          <a:p>
            <a:pPr marL="0" indent="0" eaLnBrk="1" hangingPunct="1">
              <a:spcBef>
                <a:spcPts val="600"/>
              </a:spcBef>
              <a:buFont typeface="Wingdings" pitchFamily="2" charset="2"/>
              <a:buNone/>
            </a:pPr>
            <a:r>
              <a:rPr lang="en-US" altLang="ru-RU" sz="2000" kern="0" dirty="0"/>
              <a:t>    </a:t>
            </a:r>
            <a:r>
              <a:rPr lang="ru-RU" altLang="ru-RU" sz="2000" kern="0" dirty="0"/>
              <a:t>от </a:t>
            </a:r>
            <a:r>
              <a:rPr lang="en-US" altLang="ru-RU" sz="2000" kern="0" dirty="0"/>
              <a:t>OLTP </a:t>
            </a:r>
            <a:r>
              <a:rPr lang="ru-RU" altLang="ru-RU" sz="2000" kern="0" dirty="0"/>
              <a:t>к </a:t>
            </a:r>
            <a:r>
              <a:rPr lang="en-US" altLang="ru-RU" sz="2000" kern="0" dirty="0"/>
              <a:t>OLAP</a:t>
            </a:r>
            <a:r>
              <a:rPr lang="ru-RU" altLang="ru-RU" sz="2000" kern="0" dirty="0"/>
              <a:t>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476672"/>
            <a:ext cx="3245772" cy="2114388"/>
          </a:xfrm>
          <a:prstGeom prst="rect">
            <a:avLst/>
          </a:prstGeom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79512" y="4005064"/>
            <a:ext cx="6336704" cy="85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None/>
            </a:pPr>
            <a:r>
              <a:rPr lang="ru-RU" altLang="ru-RU" sz="2000" kern="0" dirty="0"/>
              <a:t>4</a:t>
            </a:r>
            <a:r>
              <a:rPr lang="en-US" altLang="ru-RU" sz="2000" kern="0" dirty="0"/>
              <a:t>. </a:t>
            </a:r>
            <a:r>
              <a:rPr lang="ru-RU" altLang="ru-RU" sz="2000" kern="0" dirty="0"/>
              <a:t>Изменение характера данных: от структурированных к неструктурированным. 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79512" y="2348880"/>
            <a:ext cx="5040560" cy="85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ru-RU" sz="2000" kern="0" dirty="0"/>
              <a:t>3. </a:t>
            </a:r>
            <a:r>
              <a:rPr lang="ru-RU" altLang="ru-RU" sz="2000" kern="0" dirty="0"/>
              <a:t>Повышение требований к </a:t>
            </a:r>
          </a:p>
          <a:p>
            <a:pPr marL="0" indent="0" eaLnBrk="1" hangingPunct="1">
              <a:spcBef>
                <a:spcPts val="0"/>
              </a:spcBef>
              <a:buNone/>
            </a:pPr>
            <a:r>
              <a:rPr lang="ru-RU" altLang="ru-RU" sz="2000" kern="0" dirty="0"/>
              <a:t>    скорости обработки данных. 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2652410"/>
            <a:ext cx="2160240" cy="1409219"/>
          </a:xfrm>
          <a:prstGeom prst="rect">
            <a:avLst/>
          </a:prstGeom>
        </p:spPr>
      </p:pic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79512" y="4737213"/>
            <a:ext cx="6336704" cy="852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spcBef>
                <a:spcPts val="600"/>
              </a:spcBef>
              <a:buNone/>
            </a:pPr>
            <a:r>
              <a:rPr lang="ru-RU" altLang="ru-RU" sz="2000" kern="0" dirty="0"/>
              <a:t>5</a:t>
            </a:r>
            <a:r>
              <a:rPr lang="en-US" altLang="ru-RU" sz="2000" kern="0" dirty="0"/>
              <a:t>. </a:t>
            </a:r>
            <a:r>
              <a:rPr lang="ru-RU" altLang="ru-RU" sz="2000" kern="0" dirty="0"/>
              <a:t>Повышение требований к доступности и надежности данных, глобализация.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691" y="2786477"/>
            <a:ext cx="2315622" cy="1506619"/>
          </a:xfrm>
          <a:prstGeom prst="rect">
            <a:avLst/>
          </a:prstGeom>
        </p:spPr>
      </p:pic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78127"/>
              </p:ext>
            </p:extLst>
          </p:nvPr>
        </p:nvGraphicFramePr>
        <p:xfrm>
          <a:off x="2483768" y="3166293"/>
          <a:ext cx="186213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861609" imgH="767510" progId="Visio.Drawing.15">
                  <p:link updateAutomatic="1"/>
                </p:oleObj>
              </mc:Choice>
              <mc:Fallback>
                <p:oleObj name="Visio" r:id="rId7" imgW="1861609" imgH="767510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3768" y="3166293"/>
                        <a:ext cx="1862137" cy="76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22614"/>
              </p:ext>
            </p:extLst>
          </p:nvPr>
        </p:nvGraphicFramePr>
        <p:xfrm>
          <a:off x="251520" y="3140968"/>
          <a:ext cx="2182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2182712" imgH="457234" progId="Visio.Drawing.15">
                  <p:link updateAutomatic="1"/>
                </p:oleObj>
              </mc:Choice>
              <mc:Fallback>
                <p:oleObj name="Visio" r:id="rId9" imgW="2182712" imgH="457234" progId="Visio.Drawing.15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520" y="3140968"/>
                        <a:ext cx="2182813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08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373216"/>
            <a:ext cx="4464496" cy="1427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578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10" grpId="0"/>
      <p:bldP spid="12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508" y="5229200"/>
            <a:ext cx="2606004" cy="136815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483" y="3685149"/>
            <a:ext cx="2521442" cy="165618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274" y="2780928"/>
            <a:ext cx="1496786" cy="996043"/>
          </a:xfrm>
          <a:prstGeom prst="rect">
            <a:avLst/>
          </a:prstGeom>
        </p:spPr>
      </p:pic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648072"/>
          </a:xfrm>
        </p:spPr>
        <p:txBody>
          <a:bodyPr/>
          <a:lstStyle/>
          <a:p>
            <a:pPr algn="ctr" eaLnBrk="1" hangingPunct="1"/>
            <a:r>
              <a:rPr lang="ru-RU" altLang="ru-RU" sz="3600" dirty="0"/>
              <a:t>Основные направления и проблемы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980728"/>
            <a:ext cx="7344816" cy="5760640"/>
          </a:xfrm>
        </p:spPr>
        <p:txBody>
          <a:bodyPr/>
          <a:lstStyle/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Реляционные системы живы?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Базы данных </a:t>
            </a:r>
            <a:r>
              <a:rPr lang="en-US" sz="1800" dirty="0"/>
              <a:t>in-memory.</a:t>
            </a:r>
            <a:endParaRPr lang="ru-RU" sz="1800" dirty="0"/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Решение проблем оптимизации запросов. 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Хранилища данных и </a:t>
            </a:r>
            <a:r>
              <a:rPr lang="en-US" sz="1800" dirty="0"/>
              <a:t>OLAP</a:t>
            </a:r>
            <a:r>
              <a:rPr lang="ru-RU" sz="1800" dirty="0"/>
              <a:t>-обработка. 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Сохранность данных. 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Работа с неточными/неполными данными.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Интеграция разнородных и слабо формализованных данных.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Распределенные системы.</a:t>
            </a:r>
          </a:p>
          <a:p>
            <a:pPr lvl="0">
              <a:spcBef>
                <a:spcPts val="300"/>
              </a:spcBef>
              <a:buFont typeface="+mj-lt"/>
              <a:buAutoNum type="arabicPeriod"/>
            </a:pPr>
            <a:r>
              <a:rPr lang="ru-RU" sz="1800" dirty="0"/>
              <a:t>"Новые" модели данных (</a:t>
            </a:r>
            <a:r>
              <a:rPr lang="en-US" sz="1800" dirty="0"/>
              <a:t>NoSQL</a:t>
            </a:r>
            <a:r>
              <a:rPr lang="ru-RU" sz="1800" dirty="0"/>
              <a:t>)</a:t>
            </a:r>
            <a:r>
              <a:rPr lang="en-US" sz="1800" dirty="0"/>
              <a:t>:</a:t>
            </a:r>
            <a:endParaRPr lang="ru-RU" sz="1800" dirty="0"/>
          </a:p>
          <a:p>
            <a:pPr lvl="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1800" dirty="0"/>
              <a:t>Модель ключ-значение.</a:t>
            </a:r>
          </a:p>
          <a:p>
            <a:pPr lvl="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1800" dirty="0"/>
              <a:t>Документ-ориентированные БД.</a:t>
            </a:r>
          </a:p>
          <a:p>
            <a:pPr lvl="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1800" dirty="0" err="1"/>
              <a:t>Графовые</a:t>
            </a:r>
            <a:r>
              <a:rPr lang="ru-RU" sz="1800" dirty="0"/>
              <a:t> БД.</a:t>
            </a:r>
          </a:p>
          <a:p>
            <a:pPr lvl="0">
              <a:spcBef>
                <a:spcPts val="300"/>
              </a:spcBef>
              <a:buFont typeface="Wingdings" panose="05000000000000000000" pitchFamily="2" charset="2"/>
              <a:buChar char="ü"/>
            </a:pPr>
            <a:r>
              <a:rPr lang="ru-RU" sz="1800" dirty="0"/>
              <a:t>Колоночные хранилища.</a:t>
            </a:r>
          </a:p>
          <a:p>
            <a:pPr lvl="0">
              <a:spcBef>
                <a:spcPts val="300"/>
              </a:spcBef>
              <a:buFont typeface="+mj-lt"/>
              <a:buAutoNum type="arabicPeriod" startAt="10"/>
            </a:pPr>
            <a:r>
              <a:rPr lang="ru-RU" sz="1800" dirty="0"/>
              <a:t>"Большие данные" (</a:t>
            </a:r>
            <a:r>
              <a:rPr lang="en-US" sz="1800" dirty="0"/>
              <a:t>Big Data</a:t>
            </a:r>
            <a:r>
              <a:rPr lang="ru-RU" sz="1800" dirty="0"/>
              <a:t>).</a:t>
            </a:r>
          </a:p>
          <a:p>
            <a:pPr lvl="0">
              <a:spcBef>
                <a:spcPts val="300"/>
              </a:spcBef>
              <a:buFont typeface="+mj-lt"/>
              <a:buAutoNum type="arabicPeriod" startAt="10"/>
            </a:pPr>
            <a:r>
              <a:rPr lang="ru-RU" sz="1800" dirty="0"/>
              <a:t>Облачные технологии.</a:t>
            </a:r>
          </a:p>
          <a:p>
            <a:pPr lvl="0">
              <a:spcBef>
                <a:spcPts val="300"/>
              </a:spcBef>
              <a:buFont typeface="+mj-lt"/>
              <a:buAutoNum type="arabicPeriod" startAt="10"/>
            </a:pPr>
            <a:r>
              <a:rPr lang="ru-RU" sz="1800" dirty="0"/>
              <a:t>Обработка научных данных.</a:t>
            </a:r>
          </a:p>
          <a:p>
            <a:pPr lvl="0">
              <a:spcBef>
                <a:spcPts val="300"/>
              </a:spcBef>
              <a:buFont typeface="+mj-lt"/>
              <a:buAutoNum type="arabicPeriod" startAt="10"/>
            </a:pPr>
            <a:r>
              <a:rPr lang="ru-RU" sz="1800" dirty="0"/>
              <a:t>Обработка потоковых данных.</a:t>
            </a:r>
          </a:p>
          <a:p>
            <a:pPr lvl="0">
              <a:spcBef>
                <a:spcPts val="300"/>
              </a:spcBef>
              <a:buFont typeface="+mj-lt"/>
              <a:buAutoNum type="arabicPeriod" startAt="10"/>
            </a:pPr>
            <a:r>
              <a:rPr lang="ru-RU" sz="1800" dirty="0" err="1"/>
              <a:t>Мультимодельные</a:t>
            </a:r>
            <a:r>
              <a:rPr lang="ru-RU" sz="1800" dirty="0"/>
              <a:t> СУБД. </a:t>
            </a:r>
            <a:r>
              <a:rPr lang="en-US" sz="1800" dirty="0" err="1"/>
              <a:t>NewSQL</a:t>
            </a:r>
            <a:r>
              <a:rPr lang="ru-RU" sz="1800" dirty="0"/>
              <a:t>.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 startAt="9"/>
            </a:pPr>
            <a:endParaRPr lang="en-US" altLang="ru-RU" sz="18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6902896" y="6248400"/>
            <a:ext cx="2133600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3</a:t>
            </a:fld>
            <a:endParaRPr lang="ru-RU" altLang="ru-RU" dirty="0"/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890786"/>
            <a:ext cx="3133725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74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1576" y="260648"/>
            <a:ext cx="5032672" cy="739775"/>
          </a:xfrm>
        </p:spPr>
        <p:txBody>
          <a:bodyPr/>
          <a:lstStyle/>
          <a:p>
            <a:pPr algn="ctr" eaLnBrk="1" hangingPunct="1"/>
            <a:r>
              <a:rPr lang="ru-RU" altLang="ru-RU" sz="2800" b="1" dirty="0"/>
              <a:t>1. Реляционные СУБД</a:t>
            </a:r>
            <a:endParaRPr lang="ru-RU" altLang="ru-RU" sz="2800" dirty="0"/>
          </a:p>
        </p:txBody>
      </p:sp>
      <p:sp>
        <p:nvSpPr>
          <p:cNvPr id="7" name="AutoShape 2" descr="https://s1.slide-share.ru/s_slide/6615aba827e738370335f2c1bd90575c/02222208-27ea-4efa-bdc8-5b009ec37e4f.jpe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5" descr="C:\Users\karpo\Downloads\%D0%BC%D0%B0%D0%B3%D0%BD_%D0%B1%D0%B0%D1%80%D0%B0%D0%B1%D0%B0%D0%BD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532440" y="6248400"/>
            <a:ext cx="504056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4</a:t>
            </a:fld>
            <a:endParaRPr lang="ru-RU" altLang="ru-RU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926826"/>
            <a:ext cx="4680520" cy="32796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15900" y="908720"/>
            <a:ext cx="39960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Драйверы: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Растущий спрос на интеграцию и управление данными.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Растущее внедрение облачных вычислений.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аналитики больших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Развивающиеся рынки и отраслевые вертикали (здравоохранение, розничная торговля, производство и т.д.).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Достижения в области технологий баз данных (вычисления в памяти, распределенные базы данных, новые типы/модели данных и т.п.).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Ограничения/проблемы: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безопасности и конфиденциальности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Конкуренция со стороны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новые парадигмы баз данных.</a:t>
            </a: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292210"/>
            <a:ext cx="4176464" cy="2521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90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2. </a:t>
            </a:r>
            <a:r>
              <a:rPr lang="en-US" altLang="ru-RU" sz="2800" b="1" dirty="0"/>
              <a:t>In-memory databases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1029211"/>
            <a:ext cx="8784976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In-memory database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СУБД, в которой вся БД хранится в оперативной памяти.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баз данных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in-memory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Ускоренный отклик.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трансляции.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Многопользовательский параллелизм.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надежность (при сбое питания база данных может быть утрачена).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Ограничение по объему БД.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устранения недостатков: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Периодическое создание моментальных снимков БД.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на диск и репликация журналов транзакций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WAL, Write Ahead Log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флеш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-памяти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(она имеет ограниченное число циклов перезаписи).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энергонезависимой оперативной памяти (микросхемы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NVRAM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например).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Memcached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Ignite, SAP HANA,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VoltDB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Oracle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SQLite, MongoDB In-Memory Storage Engine, Java In-Memory Databases,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Tarantool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6902896" y="6248400"/>
            <a:ext cx="2133600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33997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308" y="2277677"/>
            <a:ext cx="1456998" cy="932479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3. Решение проблем оптимизации запросов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916558"/>
            <a:ext cx="6264696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 исследований: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неструктурированных запросов (возможно, на ограниченном естественном языке).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6902896" y="6248400"/>
            <a:ext cx="2133600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6</a:t>
            </a:fld>
            <a:endParaRPr lang="ru-RU" alt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03" y="3573016"/>
            <a:ext cx="2013281" cy="134134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932012"/>
            <a:ext cx="2062093" cy="26379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9512" y="1916832"/>
            <a:ext cx="6264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новых алгоритмов выполнения элементарных операций.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414" y="2492896"/>
            <a:ext cx="576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новых способов оптимизации запросов.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913" y="2924944"/>
            <a:ext cx="6653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новых способов оценки стоимости элементарных операций и запросов.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808" y="3573016"/>
            <a:ext cx="5003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Учет статистики выполненных запросов.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415" y="5075892"/>
            <a:ext cx="5528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распределенных запросов.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3808" y="3933056"/>
            <a:ext cx="63001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группы запросов.</a:t>
            </a:r>
          </a:p>
          <a:p>
            <a:r>
              <a:rPr lang="en-US" sz="1400" dirty="0">
                <a:latin typeface="+mn-lt"/>
                <a:cs typeface="Times New Roman" panose="02020603050405020304" pitchFamily="18" charset="0"/>
              </a:rPr>
              <a:t>select * from </a:t>
            </a:r>
            <a:r>
              <a:rPr lang="en-US" sz="1400" b="1" dirty="0">
                <a:latin typeface="+mn-lt"/>
                <a:cs typeface="Times New Roman" panose="02020603050405020304" pitchFamily="18" charset="0"/>
              </a:rPr>
              <a:t>Items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                        select * from Goods</a:t>
            </a:r>
          </a:p>
          <a:p>
            <a:r>
              <a:rPr lang="en-US" sz="1400" dirty="0">
                <a:latin typeface="+mn-lt"/>
                <a:cs typeface="Times New Roman" panose="02020603050405020304" pitchFamily="18" charset="0"/>
              </a:rPr>
              <a:t>  where  count &gt;=10                            where id in (select  </a:t>
            </a:r>
            <a:r>
              <a:rPr lang="en-US" sz="1400" dirty="0" err="1">
                <a:latin typeface="+mn-lt"/>
                <a:cs typeface="Times New Roman" panose="02020603050405020304" pitchFamily="18" charset="0"/>
              </a:rPr>
              <a:t>good_id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  from </a:t>
            </a:r>
            <a:r>
              <a:rPr lang="en-US" sz="1400" b="1" dirty="0">
                <a:latin typeface="+mn-lt"/>
                <a:cs typeface="Times New Roman" panose="02020603050405020304" pitchFamily="18" charset="0"/>
              </a:rPr>
              <a:t>Items</a:t>
            </a:r>
          </a:p>
          <a:p>
            <a:r>
              <a:rPr lang="en-US" sz="1400" dirty="0">
                <a:latin typeface="+mn-lt"/>
                <a:cs typeface="Times New Roman" panose="02020603050405020304" pitchFamily="18" charset="0"/>
              </a:rPr>
              <a:t>    and  </a:t>
            </a:r>
            <a:r>
              <a:rPr lang="en-US" sz="1400" b="1" dirty="0" err="1">
                <a:latin typeface="+mn-lt"/>
                <a:cs typeface="Times New Roman" panose="02020603050405020304" pitchFamily="18" charset="0"/>
              </a:rPr>
              <a:t>idate</a:t>
            </a:r>
            <a:r>
              <a:rPr lang="en-US" sz="1400" b="1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latin typeface="+mn-lt"/>
                <a:cs typeface="Times New Roman" panose="02020603050405020304" pitchFamily="18" charset="0"/>
              </a:rPr>
              <a:t>current_date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;                    where </a:t>
            </a:r>
            <a:r>
              <a:rPr lang="en-US" sz="1400" b="1" dirty="0" err="1">
                <a:latin typeface="+mn-lt"/>
                <a:cs typeface="Times New Roman" panose="02020603050405020304" pitchFamily="18" charset="0"/>
              </a:rPr>
              <a:t>idate</a:t>
            </a:r>
            <a:r>
              <a:rPr lang="en-US" sz="1400" b="1" dirty="0">
                <a:latin typeface="+mn-lt"/>
                <a:cs typeface="Times New Roman" panose="02020603050405020304" pitchFamily="18" charset="0"/>
              </a:rPr>
              <a:t> = </a:t>
            </a:r>
            <a:r>
              <a:rPr lang="en-US" sz="1400" b="1" dirty="0" err="1">
                <a:latin typeface="+mn-lt"/>
                <a:cs typeface="Times New Roman" panose="02020603050405020304" pitchFamily="18" charset="0"/>
              </a:rPr>
              <a:t>current_date</a:t>
            </a:r>
            <a:r>
              <a:rPr lang="en-US" sz="1400" dirty="0">
                <a:latin typeface="+mn-lt"/>
                <a:cs typeface="Times New Roman" panose="02020603050405020304" pitchFamily="18" charset="0"/>
              </a:rPr>
              <a:t>);</a:t>
            </a:r>
            <a:endParaRPr lang="ru-RU" sz="1400" dirty="0">
              <a:latin typeface="+mn-lt"/>
              <a:cs typeface="Times New Roman" panose="02020603050405020304" pitchFamily="18" charset="0"/>
            </a:endParaRPr>
          </a:p>
          <a:p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903" y="5174414"/>
            <a:ext cx="2402037" cy="1566954"/>
          </a:xfrm>
          <a:prstGeom prst="rect">
            <a:avLst/>
          </a:prstGeom>
        </p:spPr>
      </p:pic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432276"/>
            <a:ext cx="4320480" cy="13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5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3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4969"/>
            <a:ext cx="8229600" cy="595759"/>
          </a:xfrm>
        </p:spPr>
        <p:txBody>
          <a:bodyPr/>
          <a:lstStyle/>
          <a:p>
            <a:pPr algn="ctr" eaLnBrk="1" hangingPunct="1"/>
            <a:r>
              <a:rPr lang="ru-RU" altLang="ru-RU" sz="2800" b="1" dirty="0"/>
              <a:t>4. Хранилища данных и </a:t>
            </a:r>
            <a:r>
              <a:rPr lang="en-US" altLang="ru-RU" sz="2800" b="1" dirty="0"/>
              <a:t>OLAP</a:t>
            </a:r>
            <a:r>
              <a:rPr lang="ru-RU" altLang="ru-RU" sz="2800" b="1" dirty="0"/>
              <a:t>-обработка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80728"/>
            <a:ext cx="8640763" cy="1007318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altLang="ru-RU" sz="20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Хранилище данных (ХД</a:t>
            </a:r>
            <a:r>
              <a:rPr lang="en-US" altLang="ru-RU" sz="20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data warehouse</a:t>
            </a:r>
            <a:r>
              <a:rPr lang="ru-RU" altLang="ru-RU" sz="20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altLang="ru-RU" sz="20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предметно-ориентированный, интегрированный, привязанный </a:t>
            </a:r>
            <a:r>
              <a:rPr lang="ru-RU" altLang="ru-RU" sz="20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 времени </a:t>
            </a:r>
            <a:r>
              <a:rPr lang="ru-RU" altLang="ru-RU" sz="20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неизменяемый набор данных, предназначенный для поддержки принятия решений.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23528" y="1988840"/>
            <a:ext cx="8496944" cy="436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5000"/>
              </a:spcBef>
              <a:buFont typeface="Wingdings" pitchFamily="2" charset="2"/>
              <a:buChar char="ü"/>
            </a:pPr>
            <a:r>
              <a:rPr lang="ru-RU" altLang="ru-RU" sz="2000" b="1" dirty="0">
                <a:solidFill>
                  <a:srgbClr val="0D0D11"/>
                </a:solidFill>
              </a:rPr>
              <a:t>  Предметная ориентированность</a:t>
            </a:r>
            <a:r>
              <a:rPr lang="ru-RU" altLang="ru-RU" sz="2000" dirty="0">
                <a:solidFill>
                  <a:srgbClr val="0D0D11"/>
                </a:solidFill>
              </a:rPr>
              <a:t>: хранилище данных ориентировано на сущности предметной области, а не на процессы обработки данных.</a:t>
            </a:r>
          </a:p>
          <a:p>
            <a:pPr eaLnBrk="1" hangingPunct="1">
              <a:spcBef>
                <a:spcPct val="25000"/>
              </a:spcBef>
              <a:buFont typeface="Wingdings" pitchFamily="2" charset="2"/>
              <a:buChar char="ü"/>
            </a:pPr>
            <a:r>
              <a:rPr lang="ru-RU" altLang="ru-RU" sz="2000" b="1" dirty="0">
                <a:solidFill>
                  <a:srgbClr val="0D0D11"/>
                </a:solidFill>
              </a:rPr>
              <a:t>  Интегрированность</a:t>
            </a:r>
            <a:r>
              <a:rPr lang="ru-RU" altLang="ru-RU" sz="2000" dirty="0">
                <a:solidFill>
                  <a:srgbClr val="0D0D11"/>
                </a:solidFill>
              </a:rPr>
              <a:t>: данные в систему поступают из разных источников, которые часто имеют несогласованное представление одних и тех же данных. Поэтому необходимо обеспечить согласованность хранимых данных. </a:t>
            </a:r>
          </a:p>
          <a:p>
            <a:pPr eaLnBrk="1" hangingPunct="1">
              <a:spcBef>
                <a:spcPct val="25000"/>
              </a:spcBef>
              <a:buFont typeface="Wingdings" pitchFamily="2" charset="2"/>
              <a:buChar char="ü"/>
            </a:pPr>
            <a:r>
              <a:rPr lang="ru-RU" altLang="ru-RU" sz="2000" b="1" dirty="0">
                <a:solidFill>
                  <a:srgbClr val="0D0D11"/>
                </a:solidFill>
              </a:rPr>
              <a:t>  Привязка ко времени</a:t>
            </a:r>
            <a:r>
              <a:rPr lang="ru-RU" altLang="ru-RU" sz="2000" dirty="0">
                <a:solidFill>
                  <a:srgbClr val="0D0D11"/>
                </a:solidFill>
              </a:rPr>
              <a:t>: данные в хранилище должны быть привязаны к некоторому моменту или промежутку времени, т.к. хранилище данных является собранием "моментальных снимков" ранее наблюдавшихся текущих состояний предметной области.</a:t>
            </a:r>
          </a:p>
          <a:p>
            <a:pPr eaLnBrk="1" hangingPunct="1">
              <a:spcBef>
                <a:spcPct val="25000"/>
              </a:spcBef>
              <a:buFont typeface="Wingdings" pitchFamily="2" charset="2"/>
              <a:buChar char="ü"/>
            </a:pPr>
            <a:r>
              <a:rPr lang="ru-RU" altLang="ru-RU" sz="2000" b="1" dirty="0">
                <a:solidFill>
                  <a:srgbClr val="0D0D11"/>
                </a:solidFill>
              </a:rPr>
              <a:t>  Неизменяемость</a:t>
            </a:r>
            <a:r>
              <a:rPr lang="ru-RU" altLang="ru-RU" sz="2000" dirty="0">
                <a:solidFill>
                  <a:srgbClr val="0D0D11"/>
                </a:solidFill>
              </a:rPr>
              <a:t>: данные в хранилище только накапливаются и не изменяются, т.к. отражают свершившиеся факты.</a:t>
            </a:r>
          </a:p>
          <a:p>
            <a:pPr eaLnBrk="1" hangingPunct="1">
              <a:spcBef>
                <a:spcPct val="25000"/>
              </a:spcBef>
            </a:pPr>
            <a:r>
              <a:rPr lang="ru-RU" altLang="ru-RU" sz="2000" dirty="0">
                <a:solidFill>
                  <a:srgbClr val="0D0D11"/>
                </a:solidFill>
              </a:rPr>
              <a:t>"Отец-основатель" хранилищ данных – Билл </a:t>
            </a:r>
            <a:r>
              <a:rPr lang="ru-RU" altLang="ru-RU" sz="2000" dirty="0" err="1">
                <a:solidFill>
                  <a:srgbClr val="0D0D11"/>
                </a:solidFill>
              </a:rPr>
              <a:t>Инмон</a:t>
            </a:r>
            <a:r>
              <a:rPr lang="ru-RU" altLang="ru-RU" sz="2000" dirty="0">
                <a:solidFill>
                  <a:srgbClr val="0D0D11"/>
                </a:solidFill>
              </a:rPr>
              <a:t> (</a:t>
            </a:r>
            <a:r>
              <a:rPr lang="ru-RU" altLang="ru-RU" sz="2000" dirty="0" err="1">
                <a:solidFill>
                  <a:srgbClr val="0D0D11"/>
                </a:solidFill>
              </a:rPr>
              <a:t>Bill</a:t>
            </a:r>
            <a:r>
              <a:rPr lang="ru-RU" altLang="ru-RU" sz="2000" dirty="0">
                <a:solidFill>
                  <a:srgbClr val="0D0D11"/>
                </a:solidFill>
              </a:rPr>
              <a:t> </a:t>
            </a:r>
            <a:r>
              <a:rPr lang="ru-RU" altLang="ru-RU" sz="2000" dirty="0" err="1">
                <a:solidFill>
                  <a:srgbClr val="0D0D11"/>
                </a:solidFill>
              </a:rPr>
              <a:t>Inmon</a:t>
            </a:r>
            <a:r>
              <a:rPr lang="ru-RU" altLang="ru-RU" sz="2000" dirty="0">
                <a:solidFill>
                  <a:srgbClr val="0D0D11"/>
                </a:solidFill>
              </a:rPr>
              <a:t>).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7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15601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4969"/>
            <a:ext cx="8229600" cy="739775"/>
          </a:xfrm>
        </p:spPr>
        <p:txBody>
          <a:bodyPr/>
          <a:lstStyle/>
          <a:p>
            <a:pPr algn="ctr" eaLnBrk="1" hangingPunct="1"/>
            <a:r>
              <a:rPr lang="ru-RU" altLang="ru-RU" sz="2800" b="1" dirty="0"/>
              <a:t>Хранилища данных и </a:t>
            </a:r>
            <a:r>
              <a:rPr lang="en-US" altLang="ru-RU" sz="2800" b="1" dirty="0"/>
              <a:t>OLAP</a:t>
            </a:r>
            <a:r>
              <a:rPr lang="ru-RU" altLang="ru-RU" sz="2800" b="1" dirty="0"/>
              <a:t>-обработка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640638" cy="5615830"/>
          </a:xfrm>
        </p:spPr>
        <p:txBody>
          <a:bodyPr/>
          <a:lstStyle/>
          <a:p>
            <a:pPr marL="0" indent="0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ru-RU" altLang="ru-RU" sz="18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Потенциально высокая отдача от </a:t>
            </a:r>
            <a:b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инвестиций</a:t>
            </a:r>
            <a:r>
              <a:rPr lang="en-US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800" dirty="0">
              <a:solidFill>
                <a:srgbClr val="0D0D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конкурентоспособности.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эффективности труда лиц, </a:t>
            </a:r>
            <a:b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отвечающих за принятие решений.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ru-RU" altLang="ru-RU" sz="18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Недооценка временных ресурсов, необходимых для загрузки данных.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Скрытые проблемы источников</a:t>
            </a:r>
            <a:r>
              <a:rPr lang="ru-RU" altLang="ru-RU" sz="20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</a:t>
            </a:r>
            <a:r>
              <a:rPr lang="ru-RU" altLang="ru-RU" sz="16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(неточность, неполнота данных и др.).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требуемых данных в имеющихся архивах.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требований конечных пользователей.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Унификация (гомогенизация) данных.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Высокие требования к аппаратным ресурсам.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Владение данными (изменение прав доступа).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Сложное сопровождение.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Долговременный характер проектов.</a:t>
            </a:r>
          </a:p>
          <a:p>
            <a:pPr>
              <a:spcBef>
                <a:spcPts val="0"/>
              </a:spcBef>
              <a:spcAft>
                <a:spcPts val="300"/>
              </a:spcAft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интеграции инструментов.</a:t>
            </a:r>
          </a:p>
        </p:txBody>
      </p:sp>
      <p:graphicFrame>
        <p:nvGraphicFramePr>
          <p:cNvPr id="4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922443"/>
              </p:ext>
            </p:extLst>
          </p:nvPr>
        </p:nvGraphicFramePr>
        <p:xfrm>
          <a:off x="5041205" y="1124744"/>
          <a:ext cx="3851275" cy="1749922"/>
        </p:xfrm>
        <a:graphic>
          <a:graphicData uri="http://schemas.openxmlformats.org/drawingml/2006/table">
            <a:tbl>
              <a:tblPr/>
              <a:tblGrid>
                <a:gridCol w="18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9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Доля ком</a:t>
                      </a:r>
                      <a:r>
                        <a:rPr kumimoji="1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</a:t>
                      </a:r>
                      <a:r>
                        <a:rPr kumimoji="1" lang="en-US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аний</a:t>
                      </a:r>
                      <a:endParaRPr kumimoji="1" lang="en-US" altLang="ru-RU" sz="3200" b="0" i="0" u="none" strike="noStrike" cap="none" normalizeH="0" baseline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Прибыль</a:t>
                      </a:r>
                      <a:endParaRPr kumimoji="1" lang="ru-RU" altLang="ru-RU" sz="3200" b="0" i="0" u="none" strike="noStrike" cap="none" normalizeH="0" baseline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18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</a:t>
                      </a:r>
                      <a:r>
                        <a:rPr kumimoji="1" lang="ru-RU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90</a:t>
                      </a: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%</a:t>
                      </a:r>
                      <a:endParaRPr kumimoji="1" lang="en-US" alt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 40 %</a:t>
                      </a:r>
                      <a:endParaRPr kumimoji="1" lang="en-US" altLang="ru-RU" sz="3200" b="0" i="0" u="none" strike="noStrike" cap="none" normalizeH="0" baseline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9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 5</a:t>
                      </a:r>
                      <a:r>
                        <a:rPr kumimoji="1" lang="ru-RU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%</a:t>
                      </a:r>
                      <a:endParaRPr kumimoji="1" lang="en-US" alt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 160 %</a:t>
                      </a:r>
                      <a:endParaRPr kumimoji="1" lang="en-US" altLang="ru-RU" sz="3200" b="0" i="0" u="none" strike="noStrike" cap="none" normalizeH="0" baseline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9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~ 25 %</a:t>
                      </a:r>
                      <a:endParaRPr kumimoji="1" lang="en-US" alt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SzPct val="90000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SzPct val="80000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SzPct val="70000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70000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D0D1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 600 %</a:t>
                      </a:r>
                      <a:endParaRPr kumimoji="1" lang="en-US" altLang="ru-RU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D0D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8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05778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404664"/>
            <a:ext cx="7772400" cy="715963"/>
          </a:xfrm>
        </p:spPr>
        <p:txBody>
          <a:bodyPr/>
          <a:lstStyle/>
          <a:p>
            <a:pPr algn="ctr" eaLnBrk="1" hangingPunct="1"/>
            <a:r>
              <a:rPr lang="ru-RU" altLang="ru-RU" sz="3200" b="1" dirty="0"/>
              <a:t>Архитектура хранилища данных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0" y="4100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ru-RU" altLang="ru-RU"/>
          </a:p>
        </p:txBody>
      </p:sp>
      <p:sp>
        <p:nvSpPr>
          <p:cNvPr id="9220" name="Rectangle 8"/>
          <p:cNvSpPr>
            <a:spLocks noChangeArrowheads="1"/>
          </p:cNvSpPr>
          <p:nvPr/>
        </p:nvSpPr>
        <p:spPr bwMode="auto">
          <a:xfrm>
            <a:off x="0" y="1528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21" name="Rectangle 10"/>
          <p:cNvSpPr>
            <a:spLocks noChangeArrowheads="1"/>
          </p:cNvSpPr>
          <p:nvPr/>
        </p:nvSpPr>
        <p:spPr bwMode="auto">
          <a:xfrm>
            <a:off x="0" y="1438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702609"/>
              </p:ext>
            </p:extLst>
          </p:nvPr>
        </p:nvGraphicFramePr>
        <p:xfrm>
          <a:off x="499584" y="1124744"/>
          <a:ext cx="8320888" cy="5400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Рисунок" r:id="rId2" imgW="6169688" imgH="3999244" progId="Word.Picture.8">
                  <p:embed/>
                </p:oleObj>
              </mc:Choice>
              <mc:Fallback>
                <p:oleObj name="Рисунок" r:id="rId2" imgW="6169688" imgH="3999244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584" y="1124744"/>
                        <a:ext cx="8320888" cy="5400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9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237581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76672"/>
            <a:ext cx="7772400" cy="644525"/>
          </a:xfrm>
        </p:spPr>
        <p:txBody>
          <a:bodyPr/>
          <a:lstStyle/>
          <a:p>
            <a:pPr algn="ctr"/>
            <a:r>
              <a:rPr lang="ru-RU" altLang="ru-RU" sz="3200" b="1" dirty="0"/>
              <a:t>Виды данных в ХД</a:t>
            </a:r>
          </a:p>
        </p:txBody>
      </p:sp>
      <p:sp>
        <p:nvSpPr>
          <p:cNvPr id="18435" name="Text Box 4"/>
          <p:cNvSpPr txBox="1">
            <a:spLocks noChangeArrowheads="1"/>
          </p:cNvSpPr>
          <p:nvPr/>
        </p:nvSpPr>
        <p:spPr bwMode="auto">
          <a:xfrm>
            <a:off x="539750" y="1124744"/>
            <a:ext cx="8280400" cy="473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0D0D11"/>
                </a:solidFill>
              </a:rPr>
              <a:t>Все данные в ХД делятся на три основных категории:</a:t>
            </a:r>
          </a:p>
          <a:p>
            <a:pPr eaLnBrk="1" hangingPunct="1">
              <a:spcBef>
                <a:spcPct val="30000"/>
              </a:spcBef>
            </a:pPr>
            <a:r>
              <a:rPr lang="ru-RU" altLang="ru-RU" dirty="0">
                <a:solidFill>
                  <a:srgbClr val="0D0D11"/>
                </a:solidFill>
                <a:sym typeface="Symbol" pitchFamily="18" charset="2"/>
              </a:rPr>
              <a:t></a:t>
            </a:r>
            <a:r>
              <a:rPr lang="ru-RU" altLang="ru-RU" dirty="0">
                <a:solidFill>
                  <a:srgbClr val="0D0D11"/>
                </a:solidFill>
              </a:rPr>
              <a:t>  Метаданные.</a:t>
            </a:r>
          </a:p>
          <a:p>
            <a:pPr eaLnBrk="1" hangingPunct="1">
              <a:spcBef>
                <a:spcPct val="30000"/>
              </a:spcBef>
            </a:pPr>
            <a:r>
              <a:rPr lang="ru-RU" altLang="ru-RU" dirty="0">
                <a:solidFill>
                  <a:srgbClr val="0D0D11"/>
                </a:solidFill>
              </a:rPr>
              <a:t>Метаданные – данные о данных. Информация о том, что представляют собой данные хранилища, их основные типы, элементы и структура, процессы преобразования, где хранятся данные, как получить доступ к ним и т.д. Доступ к метаданным должны иметь все программы, обслуживающие и использующие ХД.</a:t>
            </a:r>
          </a:p>
          <a:p>
            <a:pPr eaLnBrk="1" hangingPunct="1">
              <a:spcBef>
                <a:spcPct val="30000"/>
              </a:spcBef>
            </a:pPr>
            <a:r>
              <a:rPr lang="ru-RU" altLang="ru-RU" dirty="0">
                <a:solidFill>
                  <a:srgbClr val="0D0D11"/>
                </a:solidFill>
                <a:sym typeface="Symbol" pitchFamily="18" charset="2"/>
              </a:rPr>
              <a:t></a:t>
            </a:r>
            <a:r>
              <a:rPr lang="ru-RU" altLang="ru-RU" dirty="0">
                <a:solidFill>
                  <a:srgbClr val="0D0D11"/>
                </a:solidFill>
              </a:rPr>
              <a:t>  Детальные данные.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dirty="0">
                <a:solidFill>
                  <a:srgbClr val="0D0D11"/>
                </a:solidFill>
              </a:rPr>
              <a:t>На самом деле детальные данные обычно представляют собой первый уровень агрегации.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dirty="0">
                <a:solidFill>
                  <a:srgbClr val="0D0D11"/>
                </a:solidFill>
                <a:sym typeface="Symbol" pitchFamily="18" charset="2"/>
              </a:rPr>
              <a:t> </a:t>
            </a:r>
            <a:r>
              <a:rPr lang="ru-RU" altLang="ru-RU" dirty="0">
                <a:solidFill>
                  <a:srgbClr val="0D0D11"/>
                </a:solidFill>
              </a:rPr>
              <a:t> Агрегированные данные.</a:t>
            </a:r>
          </a:p>
          <a:p>
            <a:pPr eaLnBrk="1" hangingPunct="1"/>
            <a:r>
              <a:rPr lang="ru-RU" altLang="ru-RU" dirty="0">
                <a:solidFill>
                  <a:srgbClr val="0D0D11"/>
                </a:solidFill>
              </a:rPr>
              <a:t>Большинство конечных пользователей работают с агрегированными показателями (т.е. с данными, сгруппированными по какому-либо признаку). Структура ХД позволяет конечному пользователю быстро и в удобном виде получать интересующую его агрегированную информацию с последующей навигацией по всем уровням агрегирования.</a:t>
            </a:r>
          </a:p>
        </p:txBody>
      </p:sp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10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919153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8680"/>
            <a:ext cx="7772400" cy="573088"/>
          </a:xfrm>
        </p:spPr>
        <p:txBody>
          <a:bodyPr/>
          <a:lstStyle/>
          <a:p>
            <a:pPr algn="ctr"/>
            <a:r>
              <a:rPr kumimoji="1" lang="ru-RU" altLang="ru-RU" sz="3200" b="1" dirty="0">
                <a:solidFill>
                  <a:schemeClr val="tx1"/>
                </a:solidFill>
              </a:rPr>
              <a:t>Структура хранилища данных</a:t>
            </a:r>
          </a:p>
        </p:txBody>
      </p:sp>
      <p:sp>
        <p:nvSpPr>
          <p:cNvPr id="14339" name="Text Box 6"/>
          <p:cNvSpPr txBox="1">
            <a:spLocks noChangeArrowheads="1"/>
          </p:cNvSpPr>
          <p:nvPr/>
        </p:nvSpPr>
        <p:spPr bwMode="auto">
          <a:xfrm>
            <a:off x="611188" y="1268760"/>
            <a:ext cx="80645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ru-RU" altLang="ru-RU" dirty="0">
                <a:solidFill>
                  <a:srgbClr val="0D0D11"/>
                </a:solidFill>
              </a:rPr>
              <a:t>Типичная структура ХД существенно отличается от структуры обычной реляционной СУБД: как правило, эта структура </a:t>
            </a:r>
            <a:r>
              <a:rPr lang="ru-RU" altLang="ru-RU" dirty="0" err="1">
                <a:solidFill>
                  <a:srgbClr val="0D0D11"/>
                </a:solidFill>
              </a:rPr>
              <a:t>денормализована</a:t>
            </a:r>
            <a:r>
              <a:rPr lang="ru-RU" altLang="ru-RU" dirty="0">
                <a:solidFill>
                  <a:srgbClr val="0D0D11"/>
                </a:solidFill>
              </a:rPr>
              <a:t>.</a:t>
            </a:r>
          </a:p>
          <a:p>
            <a:pPr eaLnBrk="1" hangingPunct="1"/>
            <a:r>
              <a:rPr lang="ru-RU" altLang="ru-RU" dirty="0">
                <a:solidFill>
                  <a:srgbClr val="0D0D11"/>
                </a:solidFill>
              </a:rPr>
              <a:t>Основными составляющими структуры ХД являются таблица фактов (</a:t>
            </a:r>
            <a:r>
              <a:rPr lang="ru-RU" altLang="ru-RU" dirty="0" err="1">
                <a:solidFill>
                  <a:srgbClr val="0D0D11"/>
                </a:solidFill>
              </a:rPr>
              <a:t>fact</a:t>
            </a:r>
            <a:r>
              <a:rPr lang="ru-RU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 err="1">
                <a:solidFill>
                  <a:srgbClr val="0D0D11"/>
                </a:solidFill>
              </a:rPr>
              <a:t>table</a:t>
            </a:r>
            <a:r>
              <a:rPr lang="ru-RU" altLang="ru-RU" dirty="0">
                <a:solidFill>
                  <a:srgbClr val="0D0D11"/>
                </a:solidFill>
              </a:rPr>
              <a:t>) и таблицы измерений (</a:t>
            </a:r>
            <a:r>
              <a:rPr lang="ru-RU" altLang="ru-RU" dirty="0" err="1">
                <a:solidFill>
                  <a:srgbClr val="0D0D11"/>
                </a:solidFill>
              </a:rPr>
              <a:t>dimension</a:t>
            </a:r>
            <a:r>
              <a:rPr lang="ru-RU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 err="1">
                <a:solidFill>
                  <a:srgbClr val="0D0D11"/>
                </a:solidFill>
              </a:rPr>
              <a:t>tables</a:t>
            </a:r>
            <a:r>
              <a:rPr lang="ru-RU" altLang="ru-RU" dirty="0">
                <a:solidFill>
                  <a:srgbClr val="0D0D11"/>
                </a:solidFill>
              </a:rPr>
              <a:t>).</a:t>
            </a:r>
          </a:p>
          <a:p>
            <a:pPr eaLnBrk="1" hangingPunct="1"/>
            <a:endParaRPr lang="ru-RU" altLang="ru-RU" b="1" dirty="0">
              <a:solidFill>
                <a:srgbClr val="0D0D11"/>
              </a:solidFill>
            </a:endParaRPr>
          </a:p>
          <a:p>
            <a:pPr eaLnBrk="1" hangingPunct="1"/>
            <a:r>
              <a:rPr lang="ru-RU" altLang="ru-RU" b="1" dirty="0">
                <a:solidFill>
                  <a:srgbClr val="0D0D11"/>
                </a:solidFill>
              </a:rPr>
              <a:t>Таблица фактов</a:t>
            </a:r>
            <a:r>
              <a:rPr lang="en-US" altLang="ru-RU" b="1" dirty="0">
                <a:solidFill>
                  <a:srgbClr val="0D0D11"/>
                </a:solidFill>
              </a:rPr>
              <a:t> </a:t>
            </a:r>
            <a:endParaRPr lang="ru-RU" altLang="ru-RU" b="1" dirty="0">
              <a:solidFill>
                <a:srgbClr val="0D0D11"/>
              </a:solidFill>
            </a:endParaRPr>
          </a:p>
          <a:p>
            <a:pPr eaLnBrk="1" hangingPunct="1"/>
            <a:r>
              <a:rPr lang="ru-RU" altLang="ru-RU" dirty="0">
                <a:solidFill>
                  <a:srgbClr val="0D0D11"/>
                </a:solidFill>
              </a:rPr>
              <a:t>Таблица фактов – основная таблица ХД. Содержит сведения об объектах или событиях, совокупность которых будет в дальнейшем анализироваться. </a:t>
            </a:r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611188" y="3591014"/>
            <a:ext cx="79930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SzPct val="90000"/>
              <a:buBlip>
                <a:blip r:embed="rId2"/>
              </a:buBlip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 eaLnBrk="0" hangingPunct="0">
              <a:spcBef>
                <a:spcPct val="20000"/>
              </a:spcBef>
              <a:buSzPct val="80000"/>
              <a:buBlip>
                <a:blip r:embed="rId3"/>
              </a:buBlip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257300" indent="-342900" eaLnBrk="0" hangingPunct="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714500" indent="-342900" eaLnBrk="0" hangingPunct="0">
              <a:spcBef>
                <a:spcPct val="20000"/>
              </a:spcBef>
              <a:buSzPct val="70000"/>
              <a:buBlip>
                <a:blip r:embed="rId5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171700" indent="-342900" eaLnBrk="0" hangingPunct="0">
              <a:spcBef>
                <a:spcPct val="20000"/>
              </a:spcBef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Чаще других встречаются следующие типы фактов:</a:t>
            </a:r>
          </a:p>
          <a:p>
            <a:pPr eaLnBrk="1" hangingPunct="1">
              <a:spcBef>
                <a:spcPct val="0"/>
              </a:spcBef>
              <a:buSzTx/>
              <a:buFontTx/>
              <a:buAutoNum type="arabicPeriod"/>
            </a:pP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Факты, связанные с транзакциями (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Transaction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facts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). Основаны на отдельных событиях.</a:t>
            </a:r>
          </a:p>
          <a:p>
            <a:pPr eaLnBrk="1" hangingPunct="1">
              <a:spcBef>
                <a:spcPct val="0"/>
              </a:spcBef>
              <a:buSzTx/>
              <a:buFontTx/>
              <a:buAutoNum type="arabicPeriod"/>
            </a:pP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Факты, связанные с «моментальными снимками» (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Snapshot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facts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). Основаны на состоянии объекта в определенные моменты времени.</a:t>
            </a:r>
          </a:p>
          <a:p>
            <a:pPr eaLnBrk="1" hangingPunct="1">
              <a:spcBef>
                <a:spcPct val="0"/>
              </a:spcBef>
              <a:buSzTx/>
              <a:buFontTx/>
              <a:buAutoNum type="arabicPeriod"/>
            </a:pP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Факты, связанные с элементами документа (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Line-item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facts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). Основаны на том или ином документе и содержат информацию об элементах этого документа.</a:t>
            </a:r>
          </a:p>
          <a:p>
            <a:pPr eaLnBrk="1" hangingPunct="1">
              <a:spcBef>
                <a:spcPct val="0"/>
              </a:spcBef>
              <a:buSzTx/>
              <a:buFontTx/>
              <a:buAutoNum type="arabicPeriod"/>
            </a:pP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Факты, связанные с событиями или состоянием объекта (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Event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or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state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 err="1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facts</a:t>
            </a:r>
            <a:r>
              <a:rPr lang="ru-RU" altLang="ru-RU" sz="1800" dirty="0">
                <a:solidFill>
                  <a:srgbClr val="0D0D11"/>
                </a:solidFill>
                <a:latin typeface="Times New Roman" pitchFamily="18" charset="0"/>
                <a:cs typeface="Times New Roman" panose="02020603050405020304" pitchFamily="18" charset="0"/>
              </a:rPr>
              <a:t>). Отражают возникновение события без подробностей о нем.</a:t>
            </a: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11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79493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11188" y="1412875"/>
            <a:ext cx="8064500" cy="380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ru-RU" altLang="ru-RU" b="1" dirty="0">
                <a:solidFill>
                  <a:srgbClr val="0D0D11"/>
                </a:solidFill>
              </a:rPr>
              <a:t>Таблицы измерений</a:t>
            </a:r>
          </a:p>
          <a:p>
            <a:pPr marL="285750" indent="-285750"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D0D11"/>
                </a:solidFill>
              </a:rPr>
              <a:t>Таблицы измерений содержат неизменяемые или редко изменяемые данные. </a:t>
            </a:r>
          </a:p>
          <a:p>
            <a:pPr marL="285750" indent="-285750"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D0D11"/>
                </a:solidFill>
              </a:rPr>
              <a:t>В каждой таблице измерений перечислены возможные значения одного из измерений гиперкуба. </a:t>
            </a:r>
          </a:p>
          <a:p>
            <a:pPr marL="285750" indent="-285750"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D0D11"/>
                </a:solidFill>
              </a:rPr>
              <a:t>В подавляющем большинстве случаев эти данные представляют собой по одной записи для каждого члена нижнего уровня иерархии в измерении. </a:t>
            </a:r>
          </a:p>
          <a:p>
            <a:pPr marL="285750" indent="-285750"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D0D11"/>
                </a:solidFill>
              </a:rPr>
              <a:t>Таблицы измерений также содержат как минимум одно описательное поле (обычно с именем члена измерения) и, как правило, целочисленное ключевое поле (обычно это суррогатный ключ) для однозначной идентификации члена измерения. </a:t>
            </a:r>
          </a:p>
          <a:p>
            <a:pPr marL="285750" indent="-285750" eaLnBrk="1" hangingPunct="1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ru-RU" altLang="ru-RU" dirty="0">
                <a:solidFill>
                  <a:srgbClr val="0D0D11"/>
                </a:solidFill>
              </a:rPr>
              <a:t>Каждая таблица измерений должна находиться в отношении "один ко многим" с таблицей фактов.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8680"/>
            <a:ext cx="7772400" cy="573088"/>
          </a:xfrm>
        </p:spPr>
        <p:txBody>
          <a:bodyPr/>
          <a:lstStyle/>
          <a:p>
            <a:pPr algn="ctr"/>
            <a:r>
              <a:rPr kumimoji="1" lang="ru-RU" altLang="ru-RU" sz="3200" b="1" dirty="0">
                <a:solidFill>
                  <a:schemeClr val="tx1"/>
                </a:solidFill>
              </a:rPr>
              <a:t>Структура хранилища данных</a:t>
            </a: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12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2805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8136904" cy="715963"/>
          </a:xfrm>
        </p:spPr>
        <p:txBody>
          <a:bodyPr/>
          <a:lstStyle/>
          <a:p>
            <a:pPr algn="ctr"/>
            <a:r>
              <a:rPr lang="ru-RU" altLang="ru-RU" sz="3200" dirty="0"/>
              <a:t>Пример структуры ХД: схема "звезда"</a:t>
            </a: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0" y="2347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755650" y="5956002"/>
            <a:ext cx="770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dirty="0">
                <a:solidFill>
                  <a:srgbClr val="0D0D11"/>
                </a:solidFill>
              </a:rPr>
              <a:t>В схеме "звезда" (</a:t>
            </a:r>
            <a:r>
              <a:rPr lang="ru-RU" altLang="ru-RU" dirty="0" err="1">
                <a:solidFill>
                  <a:srgbClr val="0D0D11"/>
                </a:solidFill>
              </a:rPr>
              <a:t>star</a:t>
            </a:r>
            <a:r>
              <a:rPr lang="ru-RU" altLang="ru-RU" dirty="0">
                <a:solidFill>
                  <a:srgbClr val="0D0D11"/>
                </a:solidFill>
              </a:rPr>
              <a:t> </a:t>
            </a:r>
            <a:r>
              <a:rPr lang="ru-RU" altLang="ru-RU" dirty="0" err="1">
                <a:solidFill>
                  <a:srgbClr val="0D0D11"/>
                </a:solidFill>
              </a:rPr>
              <a:t>schema</a:t>
            </a:r>
            <a:r>
              <a:rPr lang="ru-RU" altLang="ru-RU" dirty="0">
                <a:solidFill>
                  <a:srgbClr val="0D0D11"/>
                </a:solidFill>
              </a:rPr>
              <a:t>) несколько таблиц измерений и одна таблица фактов.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352550"/>
            <a:ext cx="6341400" cy="4459436"/>
          </a:xfrm>
          <a:prstGeom prst="rect">
            <a:avLst/>
          </a:prstGeom>
        </p:spPr>
      </p:pic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44755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548680"/>
            <a:ext cx="8424936" cy="644525"/>
          </a:xfrm>
        </p:spPr>
        <p:txBody>
          <a:bodyPr/>
          <a:lstStyle/>
          <a:p>
            <a:r>
              <a:rPr lang="ru-RU" altLang="ru-RU" sz="3200" dirty="0"/>
              <a:t>Пример структуры ХД: схема "снежинка"</a:t>
            </a:r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0" y="22002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13" name="Text Box 6"/>
          <p:cNvSpPr txBox="1">
            <a:spLocks noChangeArrowheads="1"/>
          </p:cNvSpPr>
          <p:nvPr/>
        </p:nvSpPr>
        <p:spPr bwMode="auto">
          <a:xfrm>
            <a:off x="611188" y="5239345"/>
            <a:ext cx="7921625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600" dirty="0">
                <a:solidFill>
                  <a:srgbClr val="0D0D11"/>
                </a:solidFill>
              </a:rPr>
              <a:t>В схеме «снежинка» (</a:t>
            </a:r>
            <a:r>
              <a:rPr lang="ru-RU" altLang="ru-RU" sz="1600" dirty="0" err="1">
                <a:solidFill>
                  <a:srgbClr val="0D0D11"/>
                </a:solidFill>
              </a:rPr>
              <a:t>snowflake</a:t>
            </a:r>
            <a:r>
              <a:rPr lang="ru-RU" altLang="ru-RU" sz="1600" dirty="0">
                <a:solidFill>
                  <a:srgbClr val="0D0D11"/>
                </a:solidFill>
              </a:rPr>
              <a:t> </a:t>
            </a:r>
            <a:r>
              <a:rPr lang="ru-RU" altLang="ru-RU" sz="1600" dirty="0" err="1">
                <a:solidFill>
                  <a:srgbClr val="0D0D11"/>
                </a:solidFill>
              </a:rPr>
              <a:t>schema</a:t>
            </a:r>
            <a:r>
              <a:rPr lang="ru-RU" altLang="ru-RU" sz="1600" dirty="0">
                <a:solidFill>
                  <a:srgbClr val="0D0D11"/>
                </a:solidFill>
              </a:rPr>
              <a:t>) дополнительные таблицы измерений, соответствующие верхним уровням иерархии измерения и находящиеся в соотношении «один ко многим» в главной таблице измерений, соответствующей нижнему уровню иерархии; их иногда называют консольными таблицами (</a:t>
            </a:r>
            <a:r>
              <a:rPr lang="ru-RU" altLang="ru-RU" sz="1600" dirty="0" err="1">
                <a:solidFill>
                  <a:srgbClr val="0D0D11"/>
                </a:solidFill>
              </a:rPr>
              <a:t>outrigger</a:t>
            </a:r>
            <a:r>
              <a:rPr lang="ru-RU" altLang="ru-RU" sz="1600" dirty="0">
                <a:solidFill>
                  <a:srgbClr val="0D0D11"/>
                </a:solidFill>
              </a:rPr>
              <a:t> </a:t>
            </a:r>
            <a:r>
              <a:rPr lang="ru-RU" altLang="ru-RU" sz="1600" dirty="0" err="1">
                <a:solidFill>
                  <a:srgbClr val="0D0D11"/>
                </a:solidFill>
              </a:rPr>
              <a:t>table</a:t>
            </a:r>
            <a:r>
              <a:rPr lang="ru-RU" altLang="ru-RU" sz="1600" dirty="0">
                <a:solidFill>
                  <a:srgbClr val="0D0D11"/>
                </a:solidFill>
              </a:rPr>
              <a:t>). </a:t>
            </a:r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68760"/>
            <a:ext cx="8895861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14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36561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76672"/>
            <a:ext cx="7772400" cy="573088"/>
          </a:xfrm>
        </p:spPr>
        <p:txBody>
          <a:bodyPr/>
          <a:lstStyle/>
          <a:p>
            <a:pPr algn="ctr"/>
            <a:r>
              <a:rPr lang="ru-RU" altLang="ru-RU" sz="3200" b="1" dirty="0"/>
              <a:t>Инструменты и технологии ХД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39750" y="1196975"/>
            <a:ext cx="8135938" cy="503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ru-RU" b="1" dirty="0"/>
              <a:t>ETL</a:t>
            </a:r>
            <a:r>
              <a:rPr lang="ru-RU" altLang="ru-RU" b="1" dirty="0"/>
              <a:t> (извлечение, преобразование, загрузка):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генераторы кода (создание трансляторов на 3/4</a:t>
            </a:r>
            <a:r>
              <a:rPr lang="en-US" altLang="ru-RU" dirty="0"/>
              <a:t>GL</a:t>
            </a:r>
            <a:r>
              <a:rPr lang="ru-RU" altLang="ru-RU" dirty="0"/>
              <a:t> по форматам входных/выходных данных);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репликация изменений БД (триггеры).</a:t>
            </a:r>
          </a:p>
          <a:p>
            <a:pPr eaLnBrk="1" hangingPunct="1"/>
            <a:r>
              <a:rPr lang="ru-RU" altLang="ru-RU" dirty="0"/>
              <a:t>Примеры: </a:t>
            </a:r>
            <a:r>
              <a:rPr lang="en-US" altLang="ru-RU" dirty="0"/>
              <a:t>Enterprise/Access (</a:t>
            </a:r>
            <a:r>
              <a:rPr lang="en-US" altLang="ru-RU" dirty="0" err="1"/>
              <a:t>Apertus</a:t>
            </a:r>
            <a:r>
              <a:rPr lang="en-US" altLang="ru-RU" dirty="0"/>
              <a:t> Corporation), Warehouse Manager (Prism Solutions), PASSPORT </a:t>
            </a:r>
            <a:r>
              <a:rPr lang="ru-RU" altLang="ru-RU" dirty="0"/>
              <a:t>и</a:t>
            </a:r>
            <a:r>
              <a:rPr lang="en-US" altLang="ru-RU" dirty="0"/>
              <a:t> Metacenter (Carleton Corp.) </a:t>
            </a:r>
            <a:r>
              <a:rPr lang="ru-RU" altLang="ru-RU" dirty="0"/>
              <a:t>и др.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b="1" dirty="0"/>
              <a:t>СУБД: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высокая производительность загрузки данных;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возможность обработки данных во время загрузки;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высокая производительность обработки запросов;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масштабируемость по объему данных и по числу пользователей.</a:t>
            </a:r>
          </a:p>
          <a:p>
            <a:pPr eaLnBrk="1" hangingPunct="1">
              <a:spcBef>
                <a:spcPct val="50000"/>
              </a:spcBef>
            </a:pPr>
            <a:r>
              <a:rPr lang="ru-RU" altLang="ru-RU" b="1" dirty="0"/>
              <a:t>Метаданные: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если в ХД используются несколько инструментов, то у каждого могут быть свои метаданные;</a:t>
            </a:r>
          </a:p>
          <a:p>
            <a:pPr eaLnBrk="1" hangingPunct="1">
              <a:buFontTx/>
              <a:buChar char="•"/>
            </a:pPr>
            <a:r>
              <a:rPr lang="ru-RU" altLang="ru-RU" dirty="0"/>
              <a:t> должны хранить информацию об источнике данных.</a:t>
            </a:r>
          </a:p>
          <a:p>
            <a:pPr eaLnBrk="1" hangingPunct="1"/>
            <a:r>
              <a:rPr lang="ru-RU" altLang="ru-RU" dirty="0"/>
              <a:t>Примеры </a:t>
            </a:r>
            <a:r>
              <a:rPr lang="ru-RU" altLang="ru-RU" dirty="0" err="1"/>
              <a:t>репозитариев</a:t>
            </a:r>
            <a:r>
              <a:rPr lang="ru-RU" altLang="ru-RU" dirty="0"/>
              <a:t> метаданных: </a:t>
            </a:r>
            <a:r>
              <a:rPr lang="en-US" altLang="ru-RU" dirty="0"/>
              <a:t>Platinum Repository (Platinum Technologies), ROCHADE Repository (R&amp;O), Directory Manager (Prism Solutions) </a:t>
            </a:r>
            <a:r>
              <a:rPr lang="ru-RU" altLang="ru-RU" dirty="0"/>
              <a:t>и др.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27983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76672"/>
            <a:ext cx="7772400" cy="428625"/>
          </a:xfrm>
        </p:spPr>
        <p:txBody>
          <a:bodyPr/>
          <a:lstStyle/>
          <a:p>
            <a:pPr algn="ctr"/>
            <a:r>
              <a:rPr lang="ru-RU" altLang="ru-RU" sz="3200" b="1" dirty="0"/>
              <a:t>Варианты хранения данных в ХД</a:t>
            </a:r>
          </a:p>
        </p:txBody>
      </p:sp>
      <p:sp>
        <p:nvSpPr>
          <p:cNvPr id="24579" name="Text Box 4"/>
          <p:cNvSpPr txBox="1">
            <a:spLocks noChangeArrowheads="1"/>
          </p:cNvSpPr>
          <p:nvPr/>
        </p:nvSpPr>
        <p:spPr bwMode="auto">
          <a:xfrm>
            <a:off x="539750" y="980728"/>
            <a:ext cx="7777163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ru-RU" altLang="ru-RU" dirty="0"/>
              <a:t>Как детальные данные, так и агрегаты могут храниться либо в реляционных, либо в многомерных структурах. Многомерное хранение позволяет обращаться с данными как с многомерным массивом, благодаря чему обеспечиваются одинаково быстрые вычисления суммарных показателей и различные многомерные преобразования по любому из измерений. </a:t>
            </a:r>
          </a:p>
          <a:p>
            <a:pPr eaLnBrk="1" hangingPunct="1">
              <a:spcAft>
                <a:spcPts val="600"/>
              </a:spcAft>
            </a:pPr>
            <a:r>
              <a:rPr lang="ru-RU" altLang="ru-RU" dirty="0"/>
              <a:t>Применяются следующие термины: </a:t>
            </a:r>
          </a:p>
          <a:p>
            <a:pPr eaLnBrk="1" hangingPunct="1">
              <a:spcAft>
                <a:spcPts val="600"/>
              </a:spcAft>
            </a:pPr>
            <a:r>
              <a:rPr lang="ru-RU" altLang="ru-RU" b="1" dirty="0"/>
              <a:t>MOLAP</a:t>
            </a:r>
            <a:r>
              <a:rPr lang="ru-RU" altLang="ru-RU" dirty="0"/>
              <a:t> (</a:t>
            </a:r>
            <a:r>
              <a:rPr lang="ru-RU" altLang="ru-RU" dirty="0" err="1"/>
              <a:t>Multidimensional</a:t>
            </a:r>
            <a:r>
              <a:rPr lang="ru-RU" altLang="ru-RU" dirty="0"/>
              <a:t> OLAP) – и детальные данные, и агрегаты хранятся в многомерной БД. В этом случае получается наибольшая избыточность, так как многомерные данные полностью содержат реляционные. </a:t>
            </a:r>
          </a:p>
          <a:p>
            <a:pPr eaLnBrk="1" hangingPunct="1">
              <a:spcAft>
                <a:spcPts val="600"/>
              </a:spcAft>
            </a:pPr>
            <a:r>
              <a:rPr lang="ru-RU" altLang="ru-RU" b="1" dirty="0"/>
              <a:t>ROLAP</a:t>
            </a:r>
            <a:r>
              <a:rPr lang="ru-RU" altLang="ru-RU" dirty="0"/>
              <a:t> (</a:t>
            </a:r>
            <a:r>
              <a:rPr lang="ru-RU" altLang="ru-RU" dirty="0" err="1"/>
              <a:t>Relational</a:t>
            </a:r>
            <a:r>
              <a:rPr lang="ru-RU" altLang="ru-RU" dirty="0"/>
              <a:t> OLAP) – детальные данные остаются там, где они были изначально – в реляционной БД; агрегаты хранятся в той же БД в специально созданных служебных таблицах. </a:t>
            </a:r>
          </a:p>
          <a:p>
            <a:pPr eaLnBrk="1" hangingPunct="1">
              <a:spcAft>
                <a:spcPts val="600"/>
              </a:spcAft>
            </a:pPr>
            <a:r>
              <a:rPr lang="ru-RU" altLang="ru-RU" b="1" dirty="0"/>
              <a:t>HOLAP</a:t>
            </a:r>
            <a:r>
              <a:rPr lang="ru-RU" altLang="ru-RU" dirty="0"/>
              <a:t> (</a:t>
            </a:r>
            <a:r>
              <a:rPr lang="ru-RU" altLang="ru-RU" dirty="0" err="1"/>
              <a:t>Hybrid</a:t>
            </a:r>
            <a:r>
              <a:rPr lang="ru-RU" altLang="ru-RU" dirty="0"/>
              <a:t> OLAP) – детальные данные остаются на месте (в реляционной БД), а агрегаты хранятся в многомерной БД. </a:t>
            </a:r>
          </a:p>
          <a:p>
            <a:pPr eaLnBrk="1" hangingPunct="1"/>
            <a:r>
              <a:rPr lang="ru-RU" altLang="ru-RU" dirty="0"/>
              <a:t>Каждый из этих способов имеет свои преимущества и недостатки и должен применяться в зависимости от условий – объема данных, мощности реляционной СУБД и т.д. 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4. Хранилища данных и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OLAP-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обработка</a:t>
            </a:r>
            <a:r>
              <a:rPr lang="ru-RU" altLang="ru-RU" dirty="0"/>
              <a:t>				</a:t>
            </a:r>
            <a:fld id="{30C1A9B2-D4D8-430A-9B97-CD7626AC306E}" type="slidenum">
              <a:rPr lang="ru-RU" altLang="ru-RU" smtClean="0"/>
              <a:pPr>
                <a:defRPr/>
              </a:pPr>
              <a:t>16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18135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1576" y="332656"/>
            <a:ext cx="5032672" cy="739775"/>
          </a:xfrm>
        </p:spPr>
        <p:txBody>
          <a:bodyPr/>
          <a:lstStyle/>
          <a:p>
            <a:pPr algn="ctr" eaLnBrk="1" hangingPunct="1"/>
            <a:r>
              <a:rPr lang="ru-RU" altLang="ru-RU" sz="2800" b="1" dirty="0"/>
              <a:t>5. Сохранность данных</a:t>
            </a:r>
            <a:endParaRPr lang="ru-RU" altLang="ru-RU" sz="2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777" y="4009384"/>
            <a:ext cx="2986708" cy="237194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4005346"/>
            <a:ext cx="2896096" cy="2592006"/>
          </a:xfrm>
          <a:prstGeom prst="rect">
            <a:avLst/>
          </a:prstGeom>
        </p:spPr>
      </p:pic>
      <p:sp>
        <p:nvSpPr>
          <p:cNvPr id="7" name="AutoShape 2" descr="https://s1.slide-share.ru/s_slide/6615aba827e738370335f2c1bd90575c/02222208-27ea-4efa-bdc8-5b009ec37e4f.jpe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68300" y="1124744"/>
            <a:ext cx="51398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Данные есть. Но как их извлечь?</a:t>
            </a:r>
          </a:p>
        </p:txBody>
      </p:sp>
      <p:sp>
        <p:nvSpPr>
          <p:cNvPr id="9" name="AutoShape 5" descr="C:\Users\karpo\Downloads\%D0%BC%D0%B0%D0%B3%D0%BD_%D0%B1%D0%B0%D1%80%D0%B0%D0%B1%D0%B0%D0%BD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28800"/>
            <a:ext cx="3492252" cy="2186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95" y="980728"/>
            <a:ext cx="4553893" cy="270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450088" y="6248400"/>
            <a:ext cx="586408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17</a:t>
            </a:fld>
            <a:endParaRPr lang="ru-RU" alt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131840" y="3967896"/>
            <a:ext cx="2952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Устройства хранения.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Метаданные.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Программное обеспечение для работы с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2314839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552728" cy="648072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5. Хранение</a:t>
            </a:r>
            <a:r>
              <a:rPr lang="ru-RU" altLang="ru-RU" sz="3200" b="1" dirty="0"/>
              <a:t> </a:t>
            </a:r>
            <a:r>
              <a:rPr lang="ru-RU" altLang="ru-RU" sz="2800" b="1" dirty="0"/>
              <a:t>данных</a:t>
            </a:r>
            <a:endParaRPr lang="ru-RU" altLang="ru-RU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980728"/>
            <a:ext cx="864096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слишком много: как их сохранить?</a:t>
            </a:r>
          </a:p>
          <a:p>
            <a:pPr eaLnBrk="1" hangingPunct="1"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Кризис хранения данных.</a:t>
            </a:r>
          </a:p>
          <a:p>
            <a:pPr eaLnBrk="1" hangingPunct="1"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год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ЦОДы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требуют около 1,5% мировой электроэнергии для обеспечения хранения данных.</a:t>
            </a:r>
          </a:p>
          <a:p>
            <a:pPr>
              <a:spcBef>
                <a:spcPct val="500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Потребность в новых решениях для хранения информации, которые занимали бы меньше места и требовали меньше энергоресурсов.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Три категории мест хранения данных: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конечные точки (смартфоны, ноутбуки,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носимые устройства);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периферийные устройства (серверы в офисах, шлюзы и сотовые вышки);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ядро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ЦОДы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предприятий и облачных провайдеров).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IDC прогнозирует, что к 2025 году 80% глобальных данных будут неструктурированными. Вместо того чтобы храниться в фиксированных, конкретных местах, где можно их контролировать и управлять ими, они будут буквально повсюду, перетекая из одного состояния в другое, из одного сервиса в следующий.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fld id="{30C1A9B2-D4D8-430A-9B97-CD7626AC306E}" type="slidenum">
              <a:rPr lang="ru-RU" altLang="ru-RU" smtClean="0"/>
              <a:pPr>
                <a:defRPr/>
              </a:pPr>
              <a:t>18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38639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57200"/>
            <a:ext cx="8651304" cy="739775"/>
          </a:xfrm>
        </p:spPr>
        <p:txBody>
          <a:bodyPr/>
          <a:lstStyle/>
          <a:p>
            <a:pPr algn="ctr" eaLnBrk="1" hangingPunct="1"/>
            <a:r>
              <a:rPr lang="ru-RU" altLang="ru-RU" sz="2800" b="1" dirty="0"/>
              <a:t>6. Работа с неточными и неполными данными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9"/>
            <a:ext cx="8640763" cy="381563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в базах данных часто содержит ошибки или является неполной. Результаты запроса по такой БД могут сильно отличаться от реального положения дел. Процессор запросов, работающий с вероятностями, коэффициентами доверия, коэффициентами полноты и т.д. позволил бы учитывать степень достоверности данных при принятии решений на основе этих данных</a:t>
            </a: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ru-RU" altLang="ru-RU" sz="18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Проблемы: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Выявление неполноты, неточности, противоречивости данных.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такими данными: исправлять или игнорировать?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  <a:defRPr/>
            </a:pPr>
            <a:r>
              <a:rPr lang="ru-RU" altLang="ru-RU" sz="1600" b="1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решения: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Учет особенностей предметной области.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  <a:defRPr/>
            </a:pPr>
            <a:r>
              <a:rPr lang="ru-RU" altLang="ru-RU" sz="1800" dirty="0">
                <a:solidFill>
                  <a:srgbClr val="0D0D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статистической обработки данных.</a:t>
            </a:r>
          </a:p>
          <a:p>
            <a:pPr>
              <a:spcBef>
                <a:spcPts val="0"/>
              </a:spcBef>
              <a:buFont typeface="Wingdings" pitchFamily="2" charset="2"/>
              <a:buChar char="ü"/>
              <a:defRPr/>
            </a:pPr>
            <a:endParaRPr lang="ru-RU" altLang="ru-RU" sz="1400" dirty="0">
              <a:solidFill>
                <a:srgbClr val="0D0D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  <a:defRPr/>
            </a:pPr>
            <a:endParaRPr lang="ru-RU" altLang="ru-RU" sz="1600" dirty="0">
              <a:solidFill>
                <a:srgbClr val="0D0D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674443"/>
            <a:ext cx="6543675" cy="156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6902896" y="6248400"/>
            <a:ext cx="2133600" cy="457200"/>
          </a:xfrm>
        </p:spPr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19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751162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1520" y="1349762"/>
            <a:ext cx="61926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Структурированные: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реляционных БД сюда можно отнести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документы CSV и т.п.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1336991"/>
            <a:ext cx="2016224" cy="16386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1" y="2996953"/>
            <a:ext cx="2448272" cy="1572554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725144"/>
            <a:ext cx="2520280" cy="177801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fld id="{30C1A9B2-D4D8-430A-9B97-CD7626AC306E}" type="slidenum">
              <a:rPr lang="ru-RU" altLang="ru-RU" smtClean="0"/>
              <a:pPr>
                <a:defRPr/>
              </a:pPr>
              <a:t>20</a:t>
            </a:fld>
            <a:endParaRPr lang="ru-RU" altLang="ru-RU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1259632" y="404664"/>
            <a:ext cx="6552728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/>
              <a:t>7. Интеграция разнородных и слабо формализованных данных</a:t>
            </a:r>
            <a:endParaRPr lang="ru-RU" altLang="ru-RU" sz="2800" kern="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2060848"/>
            <a:ext cx="61926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Полуструктурированные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 слабоструктурированные: сведения, не обладающие строго определенной структурой. Имеют разнообразные маркеры, при помощи которых можно интерпретировать данные. Пример - лог-файлы, документы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т.д.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4089846"/>
            <a:ext cx="5904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Неструктурированные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не имеют четкой структуры или маркеров: текст на естественном языке, аудиозаписи, видеоролики, изображения и т.д.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5459159"/>
            <a:ext cx="36004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Распределенные базы данных</a:t>
            </a:r>
          </a:p>
          <a:p>
            <a:pPr>
              <a:spcBef>
                <a:spcPts val="600"/>
              </a:spcBef>
            </a:pPr>
            <a:r>
              <a:rPr lang="en-US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835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684213" y="1196975"/>
            <a:ext cx="784860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Под </a:t>
            </a:r>
            <a:r>
              <a:rPr kumimoji="1" lang="ru-RU" altLang="ru-RU" sz="1800" b="1" dirty="0">
                <a:solidFill>
                  <a:srgbClr val="0D0D11"/>
                </a:solidFill>
                <a:latin typeface="Times New Roman" pitchFamily="18" charset="0"/>
              </a:rPr>
              <a:t>распределенной базой данных (РБД)</a:t>
            </a: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 понимается набор логически связанных между собой разделяемых данных, которые физически распределены по разным узлам компьютерной сети.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СУРБД – это программный комплекс (СУБД), предназначенный для управления РБД и позволяющий сделать </a:t>
            </a:r>
            <a:r>
              <a:rPr kumimoji="1" lang="ru-RU" altLang="ru-RU" sz="1800" dirty="0" err="1">
                <a:solidFill>
                  <a:srgbClr val="0D0D11"/>
                </a:solidFill>
                <a:latin typeface="Times New Roman" pitchFamily="18" charset="0"/>
              </a:rPr>
              <a:t>распределенность</a:t>
            </a: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 прозрачной для конечного пользователя. </a:t>
            </a:r>
            <a:r>
              <a:rPr kumimoji="1" lang="ru-RU" altLang="ru-RU" sz="1800" b="1" dirty="0">
                <a:solidFill>
                  <a:srgbClr val="0D0D11"/>
                </a:solidFill>
                <a:latin typeface="Times New Roman" pitchFamily="18" charset="0"/>
              </a:rPr>
              <a:t>Прозрачность РБД</a:t>
            </a: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 заключается в том, что с точки зрения конечного пользователя она должна вести себя точно также, как централизованная.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ru-RU" altLang="ru-RU" sz="1800" dirty="0">
                <a:solidFill>
                  <a:srgbClr val="0D0D11"/>
                </a:solidFill>
                <a:latin typeface="Times New Roman" pitchFamily="18" charset="0"/>
              </a:rPr>
              <a:t>Логически единая БД разделяется на фрагменты, каждый из которых хранится на одном компьютере, а все компьютеры соединены линиями связи. Каждый из этих фрагментов работает под управлением своей СУБД.</a:t>
            </a:r>
          </a:p>
        </p:txBody>
      </p:sp>
      <p:graphicFrame>
        <p:nvGraphicFramePr>
          <p:cNvPr id="4101" name="Object 4"/>
          <p:cNvGraphicFramePr>
            <a:graphicFrameLocks noChangeAspect="1"/>
          </p:cNvGraphicFramePr>
          <p:nvPr/>
        </p:nvGraphicFramePr>
        <p:xfrm>
          <a:off x="971550" y="4422775"/>
          <a:ext cx="7561263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Рисунок" r:id="rId2" imgW="5273040" imgH="1261872" progId="Word.Picture.8">
                  <p:embed/>
                </p:oleObj>
              </mc:Choice>
              <mc:Fallback>
                <p:oleObj name="Рисунок" r:id="rId2" imgW="5273040" imgH="1261872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422775"/>
                        <a:ext cx="7561263" cy="181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5"/>
          <p:cNvSpPr>
            <a:spLocks noChangeArrowheads="1"/>
          </p:cNvSpPr>
          <p:nvPr/>
        </p:nvSpPr>
        <p:spPr bwMode="auto">
          <a:xfrm>
            <a:off x="0" y="4100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1" lang="ru-RU" altLang="ru-RU" sz="1800">
              <a:latin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259632" y="404664"/>
            <a:ext cx="6552728" cy="576064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/>
              <a:t>8. Распределенные базы данных</a:t>
            </a:r>
            <a:endParaRPr lang="ru-RU" altLang="ru-RU" sz="2800" kern="0" dirty="0"/>
          </a:p>
        </p:txBody>
      </p:sp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8. Распределенные базы данных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21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971752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9575"/>
            <a:ext cx="8147050" cy="642938"/>
          </a:xfrm>
        </p:spPr>
        <p:txBody>
          <a:bodyPr/>
          <a:lstStyle/>
          <a:p>
            <a:pPr algn="ctr"/>
            <a:r>
              <a:rPr lang="ru-RU" altLang="ru-RU" sz="3200"/>
              <a:t>Преимущества и недостатки РБД</a:t>
            </a:r>
          </a:p>
        </p:txBody>
      </p:sp>
      <p:graphicFrame>
        <p:nvGraphicFramePr>
          <p:cNvPr id="71785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56161"/>
              </p:ext>
            </p:extLst>
          </p:nvPr>
        </p:nvGraphicFramePr>
        <p:xfrm>
          <a:off x="827088" y="1485900"/>
          <a:ext cx="7777162" cy="4566607"/>
        </p:xfrm>
        <a:graphic>
          <a:graphicData uri="http://schemas.openxmlformats.org/drawingml/2006/table">
            <a:tbl>
              <a:tblPr/>
              <a:tblGrid>
                <a:gridCol w="381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Преимущества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Недостатки</a:t>
                      </a:r>
                      <a:endParaRPr kumimoji="1" lang="ru-RU" altLang="ru-R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Отражение структуры организации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Повышение сложности системы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3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Разделяемость</a:t>
                      </a: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и локальная автономность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Отсутствие стандартов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2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Повышение доступности данных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Проблемы защиты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Повышение надежности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Усложнение контроля за целостностью данных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Повышение производительности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Недостаток опыта 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Экономические выгоды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Увеличение стоимости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Модульность системы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21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ru-RU" alt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Усложнение процедуры разработки базы данных</a:t>
                      </a:r>
                      <a:endParaRPr kumimoji="1" lang="ru-RU" alt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</a:endParaRPr>
                    </a:p>
                  </a:txBody>
                  <a:tcPr marT="45702" marB="4570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8. Распределенные базы данных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22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30054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5950" y="404664"/>
            <a:ext cx="7988300" cy="540816"/>
          </a:xfrm>
        </p:spPr>
        <p:txBody>
          <a:bodyPr/>
          <a:lstStyle/>
          <a:p>
            <a:pPr algn="ctr"/>
            <a:r>
              <a:rPr lang="ru-RU" altLang="ru-RU" sz="2800" b="1" dirty="0">
                <a:latin typeface="Times New Roman" pitchFamily="18" charset="0"/>
              </a:rPr>
              <a:t>Методы поддержки распределенных данных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691680" y="1148546"/>
            <a:ext cx="648071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600"/>
              </a:spcBef>
              <a:buClrTx/>
              <a:buSzTx/>
              <a:buFontTx/>
              <a:buAutoNum type="arabicPeriod"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Фрагментация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 – разбиение БД или таблицы базы данных на несколько частей и хранение этих частей на разных узлах РБД.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AutoNum type="arabicPeriod"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Репликация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 – создание и хранение копий одних         и тех же данных на разных узлах РБД. Может комбинироваться с фрагментацией.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AutoNum type="arabicPeriod"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Распределенные ограничения целостности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 – ограничения, для проверки выполнения которых требуется обращение к другому узлу РБД.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AutoNum type="arabicPeriod"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Распределенные запросы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 – это запросы на       чтение, обращающиеся более чем к одному            узлу РБД.</a:t>
            </a:r>
          </a:p>
          <a:p>
            <a:pPr eaLnBrk="1" hangingPunct="1">
              <a:spcBef>
                <a:spcPts val="600"/>
              </a:spcBef>
              <a:buClrTx/>
              <a:buSzTx/>
              <a:buFontTx/>
              <a:buAutoNum type="arabicPeriod"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Распределенные транзакции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 – команды на изменение данных, обращающиеся более чем к одному узлу РБД.</a:t>
            </a:r>
          </a:p>
        </p:txBody>
      </p:sp>
      <p:pic>
        <p:nvPicPr>
          <p:cNvPr id="6" name="Picture 4" descr="http://rsute.ru/upkeep/uploads/2019/05/Moving-Mirror-4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23" y="2129916"/>
            <a:ext cx="1640881" cy="1155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431" y="4005064"/>
            <a:ext cx="1910770" cy="1271531"/>
          </a:xfrm>
          <a:prstGeom prst="rect">
            <a:avLst/>
          </a:prstGeom>
        </p:spPr>
      </p:pic>
      <p:pic>
        <p:nvPicPr>
          <p:cNvPr id="8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6" y="5157192"/>
            <a:ext cx="1687769" cy="112487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7" y="3068960"/>
            <a:ext cx="1640868" cy="12611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052736"/>
            <a:ext cx="1732036" cy="1296144"/>
          </a:xfrm>
          <a:prstGeom prst="rect">
            <a:avLst/>
          </a:prstGeom>
        </p:spPr>
      </p:pic>
      <p:sp>
        <p:nvSpPr>
          <p:cNvPr id="11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8. Распределенные базы данных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64296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5950" y="404664"/>
            <a:ext cx="7988300" cy="540816"/>
          </a:xfrm>
        </p:spPr>
        <p:txBody>
          <a:bodyPr/>
          <a:lstStyle/>
          <a:p>
            <a:pPr algn="ctr"/>
            <a:r>
              <a:rPr lang="ru-RU" altLang="ru-RU" sz="2800" b="1" dirty="0">
                <a:latin typeface="Times New Roman" pitchFamily="18" charset="0"/>
              </a:rPr>
              <a:t>Основные проблемы поддержки РБД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251520" y="1076538"/>
            <a:ext cx="8568952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800100" indent="-34290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714500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71700" indent="-342900" eaLnBrk="0" hangingPunct="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indent="0" eaLnBrk="1" hangingPunct="1">
              <a:spcBef>
                <a:spcPts val="600"/>
              </a:spcBef>
              <a:buClrTx/>
              <a:buSzTx/>
              <a:buNone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1. Фрагментация объектов БД (таблиц, коллекций и т.д.):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Обеспечение прозрачности доступа.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Поддержка ограничений целостности </a:t>
            </a:r>
            <a:r>
              <a:rPr kumimoji="1" lang="en-US" altLang="ru-RU" sz="2000" i="1" dirty="0">
                <a:solidFill>
                  <a:srgbClr val="0D0D11"/>
                </a:solidFill>
                <a:latin typeface="Times New Roman" pitchFamily="18" charset="0"/>
              </a:rPr>
              <a:t>primary key</a:t>
            </a:r>
            <a:r>
              <a:rPr kumimoji="1" lang="en-US" altLang="ru-RU" sz="2000" dirty="0">
                <a:solidFill>
                  <a:srgbClr val="0D0D11"/>
                </a:solidFill>
                <a:latin typeface="Times New Roman" pitchFamily="18" charset="0"/>
              </a:rPr>
              <a:t> 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и</a:t>
            </a:r>
            <a:r>
              <a:rPr kumimoji="1" lang="en-US" altLang="ru-RU" sz="2000" dirty="0">
                <a:solidFill>
                  <a:srgbClr val="0D0D11"/>
                </a:solidFill>
                <a:latin typeface="Times New Roman" pitchFamily="18" charset="0"/>
              </a:rPr>
              <a:t> </a:t>
            </a:r>
            <a:r>
              <a:rPr kumimoji="1" lang="en-US" altLang="ru-RU" sz="2000" i="1" dirty="0">
                <a:solidFill>
                  <a:srgbClr val="0D0D11"/>
                </a:solidFill>
                <a:latin typeface="Times New Roman" pitchFamily="18" charset="0"/>
              </a:rPr>
              <a:t>unique</a:t>
            </a:r>
            <a:r>
              <a:rPr kumimoji="1" lang="en-US" altLang="ru-RU" sz="2000" dirty="0">
                <a:solidFill>
                  <a:srgbClr val="0D0D11"/>
                </a:solidFill>
                <a:latin typeface="Times New Roman" pitchFamily="18" charset="0"/>
              </a:rPr>
              <a:t>.</a:t>
            </a:r>
            <a:endParaRPr kumimoji="1" lang="ru-RU" altLang="ru-RU" sz="2000" dirty="0">
              <a:solidFill>
                <a:srgbClr val="0D0D11"/>
              </a:solidFill>
              <a:latin typeface="Times New Roman" pitchFamily="18" charset="0"/>
            </a:endParaRPr>
          </a:p>
          <a:p>
            <a:pPr marL="0" indent="0" eaLnBrk="1" hangingPunct="1">
              <a:spcBef>
                <a:spcPts val="600"/>
              </a:spcBef>
              <a:buClrTx/>
              <a:buSzTx/>
              <a:buNone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2. Репликация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Поддержка идентичности копий.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Разрешение конфликтов при репликации без основной копии.</a:t>
            </a:r>
          </a:p>
          <a:p>
            <a:pPr marL="0" indent="0" eaLnBrk="1" hangingPunct="1">
              <a:spcBef>
                <a:spcPts val="600"/>
              </a:spcBef>
              <a:buClrTx/>
              <a:buSzTx/>
              <a:buNone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3. Распределенные ограничения целостности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Невозможность проверки ОЦ при отсутствии связи между узлами.</a:t>
            </a:r>
          </a:p>
          <a:p>
            <a:pPr marL="0" indent="0" eaLnBrk="1" hangingPunct="1">
              <a:spcBef>
                <a:spcPts val="600"/>
              </a:spcBef>
              <a:buClrTx/>
              <a:buSzTx/>
              <a:buNone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4. Распределенные запросы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Обеспечение достаточной эффективности выполнения запросов.</a:t>
            </a:r>
          </a:p>
          <a:p>
            <a:pPr marL="0" indent="0" eaLnBrk="1" hangingPunct="1">
              <a:spcBef>
                <a:spcPts val="600"/>
              </a:spcBef>
              <a:buClrTx/>
              <a:buSzTx/>
              <a:buNone/>
            </a:pPr>
            <a:r>
              <a:rPr kumimoji="1" lang="ru-RU" altLang="ru-RU" sz="2000" b="1" dirty="0">
                <a:solidFill>
                  <a:srgbClr val="0D0D11"/>
                </a:solidFill>
                <a:latin typeface="Times New Roman" pitchFamily="18" charset="0"/>
              </a:rPr>
              <a:t>5. Распределенные транзакции</a:t>
            </a: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Обеспечение атомарности транзакций.</a:t>
            </a:r>
          </a:p>
          <a:p>
            <a:pPr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1" lang="ru-RU" altLang="ru-RU" sz="2000" dirty="0">
                <a:solidFill>
                  <a:srgbClr val="0D0D11"/>
                </a:solidFill>
                <a:latin typeface="Times New Roman" pitchFamily="18" charset="0"/>
              </a:rPr>
              <a:t>Проблемы отслеживания распределенных взаимных блокировок.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8. Распределенные базы данных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24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229099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898" y="3861048"/>
            <a:ext cx="3946606" cy="259228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"Новые" модели данных (</a:t>
            </a:r>
            <a:r>
              <a:rPr lang="en-US" altLang="ru-RU" sz="2800" b="1" dirty="0"/>
              <a:t>NoSQL</a:t>
            </a:r>
            <a:r>
              <a:rPr lang="ru-RU" altLang="ru-RU" sz="2800" b="1" dirty="0"/>
              <a:t>)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980728"/>
            <a:ext cx="56886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предпосылка появления – растущая потребность в горизонтальной масштабируемости приложений.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2009 г. – термин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стал использоваться для обозначения СУБД, которые отказывались от поддержки ACID-транзакций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Atomicity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Durability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     Атомарность, Согласованность,   Изолированность,  Устойчивость) </a:t>
            </a: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настоящее время термин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расшифровывается как 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SQL».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268760"/>
            <a:ext cx="3088579" cy="18002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1520" y="1916832"/>
            <a:ext cx="59046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1998 г. – первое упоминание о «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принцип: решение проблем масштабируемости и доступности за счёт полного или частичного отказа от требований атомарности и согласованности данных.</a:t>
            </a:r>
          </a:p>
        </p:txBody>
      </p:sp>
      <p:sp>
        <p:nvSpPr>
          <p:cNvPr id="10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48689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92696"/>
            <a:ext cx="1496786" cy="996043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основные характеристики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первое место ставится производительность.</a:t>
            </a:r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496" y="1772816"/>
            <a:ext cx="266700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611" y="2836203"/>
            <a:ext cx="1654629" cy="123552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404707"/>
            <a:ext cx="3973286" cy="10613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5536" y="1412776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нереляционных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 не требуется предварительное определение схемы данных.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2073042"/>
            <a:ext cx="58622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Простота и возможность применения в самых разных сценариях.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536" y="272111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Большинство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 являются распределенными.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536" y="3453968"/>
            <a:ext cx="57606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 во всех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-системах изначально отсутствует  поддержка транзакционной семантики – из-за сложности эффективной реализации транзакций в распределённой среде.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36" y="5045114"/>
            <a:ext cx="561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различных моделей данных.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536" y="5457418"/>
            <a:ext cx="6048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различных моделей согласованности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данных.</a:t>
            </a: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5373216"/>
            <a:ext cx="1550625" cy="145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26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47301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поддержка </a:t>
            </a:r>
            <a:r>
              <a:rPr lang="ru-RU" altLang="ru-RU" sz="2800" b="1" dirty="0" err="1"/>
              <a:t>распределенности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946268"/>
            <a:ext cx="86409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данных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шардинг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sharding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Подход, при котором каждый узел системы содержит свою часть данных и выполняет операции над ними.</a:t>
            </a:r>
          </a:p>
          <a:p>
            <a:pPr>
              <a:spcBef>
                <a:spcPts val="600"/>
              </a:spcBef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https://habr.com/ru/companies/oleg-bunin/articles/433370/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заинтересованных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шардинге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увеличении числа узлов, хранящих данные, увеличивается вероятность сбоев, что требует наличия избыточности – применения репликации.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replication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копий одних и тех же данных на нескольких узлах в сети.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 позволяет масштабировать операции чтения (иногда – записи). </a:t>
            </a:r>
          </a:p>
        </p:txBody>
      </p:sp>
      <p:pic>
        <p:nvPicPr>
          <p:cNvPr id="5" name="Picture 2" descr="https://opt-560835.ssl.1c-bitrix-cdn.ru/images/admin_expert/cluster/master_master_replication.png?1320132963269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4221088"/>
            <a:ext cx="4176464" cy="2088232"/>
          </a:xfrm>
          <a:prstGeom prst="rect">
            <a:avLst/>
          </a:prstGeom>
          <a:noFill/>
        </p:spPr>
      </p:pic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27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07776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модели согласованности данных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208912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Согласованность в «конечном счёте»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eventual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Гарантирует, что при отсутствии новых обновлений в течение некоторого времени все копии данных (реплики) станут согласованными. 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Монотонные чтения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monotonic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Являются усилением согласованности «в конечном счёте», гарантируя, что если какое-либо значение было прочитано клиентом, то последующие чтения никогда не вернут предыдущие значения. 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Чтение своих записей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усиливает согласованность «в конечном счёте», давая гарантии того, что клиент всегда увидит данные, которые он до этого записал. Эта модель может также комбинироваться с монотонными чтениями.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Мгновенная согласованность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Означает, что как только операция модификации данных успешно завершена, все клиенты мгновенно увидят это изменение.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Такую модель согласованности поддерживают, например, системы с синхронной репликацией. </a:t>
            </a: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28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59217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модели данных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42493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Системы «ключ-значение»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Key-Value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-системы типа «ключ-значение» хранят данные и позволяют иметь доступ к ним при помощи единственного уникального ключа. Работа с данными обычно осуществляется с помощью простых операций вставки, удаления и поиска по ключу.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–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Berkeley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DB,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MemcacheDB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Riak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Amazon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Документ-ориентированные СУБД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Единицей хранения данных в таких системах является документ – некоторый объект, обладающий произвольным набором атрибутов (полей). 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основе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-ориентированных СУБД лежат документные хранилища, имеющие обычно структуру дерева. Документные системы поддерживают поиск по полям документов, а заранее предопределённой схемы данных, как правило, нет. В отличие от систем типа «ключ-значение», документные СУБД позволяют запрашивать коллекции документов на основании нескольких ограничений на атрибуты.</a:t>
            </a:r>
          </a:p>
          <a:p>
            <a:pPr>
              <a:spcBef>
                <a:spcPts val="600"/>
              </a:spcBef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–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CouchDB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Berkeley DB XML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29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99375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модели данных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908720"/>
            <a:ext cx="8640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«Семейство столбцов»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column-family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Прародитель этого типа – система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BigTable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таких системах данные хранятся в виде разреженной матрицы, строки и столбцы которой используются как ключи. Типичным применением этого типа СУБД является веб-индексирование, а также задачи, связанные с большими данными, с пониженными требованиями к согласованности. 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Примерами СУБД данного типа являются: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ScyllaDB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Accumulo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Hypertable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системы.</a:t>
            </a:r>
          </a:p>
          <a:p>
            <a:pPr>
              <a:spcBef>
                <a:spcPts val="600"/>
              </a:spcBef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Графовую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данных обычно рассматривают как обобщение сетевой модели данных.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СУБД, как правило, разделяют подсистему хранения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underlying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механизм обработки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Bef>
                <a:spcPts val="600"/>
              </a:spcBef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 применяются для моделирования социальных графов (социальных сетей),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биоинформатике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для семантической паутины. Для задач с естественной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структурой данных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 существенно превосходят реляционные по производительности, а также имеют преимущества в наглядности представления и простоте внесения изменений в схему базы данных.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HyperGraphDB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мультиграфа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Titan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т.д.</a:t>
            </a: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общие сведения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30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51797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748091-257F-002F-A796-2F3CE34B12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31</a:t>
            </a:fld>
            <a:endParaRPr lang="ru-RU" alt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4F749C-DE65-56B0-E2A9-BC1583D6CD23}"/>
              </a:ext>
            </a:extLst>
          </p:cNvPr>
          <p:cNvSpPr txBox="1"/>
          <p:nvPr/>
        </p:nvSpPr>
        <p:spPr>
          <a:xfrm>
            <a:off x="3304762" y="764704"/>
            <a:ext cx="2534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latin typeface="+mj-lt"/>
                <a:ea typeface="+mj-ea"/>
                <a:cs typeface="+mj-cs"/>
              </a:rPr>
              <a:t>CAP </a:t>
            </a:r>
            <a:r>
              <a:rPr lang="ru-RU" sz="2800" b="1" dirty="0">
                <a:latin typeface="+mj-lt"/>
                <a:ea typeface="+mj-ea"/>
                <a:cs typeface="+mj-cs"/>
              </a:rPr>
              <a:t>Теорема</a:t>
            </a:r>
          </a:p>
        </p:txBody>
      </p:sp>
      <p:pic>
        <p:nvPicPr>
          <p:cNvPr id="54276" name="Picture 4">
            <a:extLst>
              <a:ext uri="{FF2B5EF4-FFF2-40B4-BE49-F238E27FC236}">
                <a16:creationId xmlns:a16="http://schemas.microsoft.com/office/drawing/2014/main" id="{35B5B351-152A-8531-E65A-6598ECD66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62" y="1488464"/>
            <a:ext cx="8486990" cy="4773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7781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</a:t>
            </a:r>
            <a:r>
              <a:rPr lang="en-US" altLang="ru-RU" sz="2800" b="1" dirty="0" err="1"/>
              <a:t>Redis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4249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(Remote Dictionary Server)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это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нереляционная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высокопроизводительная СУБД типа «ключ-значение», написанная на C. </a:t>
            </a:r>
          </a:p>
          <a:p>
            <a:pPr>
              <a:spcBef>
                <a:spcPts val="300"/>
              </a:spcBef>
            </a:pP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</a:t>
            </a:r>
            <a:r>
              <a:rPr lang="ru-RU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хранятся в оперативной памяти (высокая скорость обработки).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Умеет сохранять данные на диск.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хранить не только строки, но и массивы, словари, множества, большие массивы битов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bitmaps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есть репликация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master-slave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асинхронным распространением изменений и автоматическим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перевыбором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основного узла в случае его отказа. 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 транзакции и пакетную обработку команд.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механизм 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publish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subscribe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публикация / подписка).</a:t>
            </a:r>
          </a:p>
          <a:p>
            <a:pPr>
              <a:spcBef>
                <a:spcPts val="300"/>
              </a:spcBef>
            </a:pP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 </a:t>
            </a:r>
            <a:r>
              <a:rPr lang="ru-RU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хранятся в оперативной памяти (низкая надежность).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данных, хранимый на одном физическом сервере, ограничен объемом оперативной памяти на этом сервере.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инструменты поддержания целостности данных.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en-US" altLang="ru-RU" dirty="0" err="1">
                <a:solidFill>
                  <a:schemeClr val="accent5">
                    <a:lumMod val="50000"/>
                  </a:schemeClr>
                </a:solidFill>
              </a:rPr>
              <a:t>Redis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32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07029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 err="1"/>
              <a:t>Redis</a:t>
            </a:r>
            <a:r>
              <a:rPr lang="ru-RU" altLang="ru-RU" sz="2800" b="1" dirty="0"/>
              <a:t>: общие сведения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836712"/>
            <a:ext cx="8640960" cy="5698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использования: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сессиями.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Чаты, форумы, обмен сообщениями.</a:t>
            </a:r>
          </a:p>
          <a:p>
            <a:pPr marL="1143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ru-RU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Типы данных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sz="2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1" indent="-34290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Строки.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Базовый тип данных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Строки в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бинарно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-безопасны, могут использоваться как числа, ограничены размером 512 М.</a:t>
            </a:r>
          </a:p>
          <a:p>
            <a:pPr marL="342900" lvl="1" indent="-34290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Списки.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Классические списки строк, упорядоченные в порядке вставки, которая возможна как с начала, так и с хвоста списка. Максимальное количество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30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</a:t>
            </a:r>
          </a:p>
          <a:p>
            <a:pPr marL="342900" lvl="1" indent="-34290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Множества.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Множества строк в математическом понимании: не упорядочены, поддерживают операции вставки, проверки вхождения элемента, пересечения и разности множеств. Максимальное количество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30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</a:t>
            </a:r>
          </a:p>
          <a:p>
            <a:pPr marL="342900" lvl="1" indent="-34290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Хеш-таблицы.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Классические хеш-таблицы или ассоциативные массивы. Максимальное количество пар «ключ-значение»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30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</a:t>
            </a:r>
          </a:p>
          <a:p>
            <a:pPr marL="342900" lvl="1" indent="-34290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400"/>
              <a:buFont typeface="Wingdings" panose="05000000000000000000" pitchFamily="2" charset="2"/>
              <a:buChar char="Ø"/>
            </a:pP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Упорядоченные множества.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Упорядоченное множество отличается от обычного тем, что его элементы упорядочены по особому параметру «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0" lvl="1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400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данных значения определяет, какие операции (команды) доступны для него; поддерживаются такие высокоуровневые операции, как объединение и разность наборов, сортировка наборов.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en-US" altLang="ru-RU" dirty="0" err="1">
                <a:solidFill>
                  <a:schemeClr val="accent5">
                    <a:lumMod val="50000"/>
                  </a:schemeClr>
                </a:solidFill>
              </a:rPr>
              <a:t>Redis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75545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Транзакции в </a:t>
            </a:r>
            <a:r>
              <a:rPr lang="en-US" altLang="ru-RU" sz="2800" b="1" dirty="0" err="1"/>
              <a:t>Redis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836712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реализации транзакций в 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используются следующие основные команды:</a:t>
            </a: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– начать запись команд для транзакции. </a:t>
            </a: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 – выполнить записанные команды. </a:t>
            </a: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DISCARD – удалить все записанные команды. </a:t>
            </a:r>
          </a:p>
          <a:p>
            <a:pPr marL="285750" lvl="0" indent="-285750" eaLnBrk="0" hangingPunct="0">
              <a:buFont typeface="Arial" panose="020B0604020202020204" pitchFamily="34" charset="0"/>
              <a:buChar char="•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[key…]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команда, обеспечивающая поведение типа «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check-and-set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(CAS) – транзакция выполняется только в случае, если другие клиенты не изменили значение переменной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Иначе EXEC не выполнит записанные команды. </a:t>
            </a:r>
          </a:p>
          <a:p>
            <a:pPr lvl="0" eaLnBrk="0" hangingPunct="0"/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127.0.0.1:6379&gt; MULTI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127.0.0.1:6379&gt; SET obj1 value1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127.0.0.1:6379&gt; SET obj2 value2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QUEUED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127.0.0.1:6379&gt; EXEC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OK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OK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127.0.0.1:6379&gt; GET obj1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"value1"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en-US" altLang="ru-RU" dirty="0" err="1">
                <a:solidFill>
                  <a:schemeClr val="accent5">
                    <a:lumMod val="50000"/>
                  </a:schemeClr>
                </a:solidFill>
              </a:rPr>
              <a:t>Redis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34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60277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</a:t>
            </a:r>
            <a:r>
              <a:rPr lang="en-US" sz="2800" b="1" dirty="0">
                <a:solidFill>
                  <a:schemeClr val="dk1"/>
                </a:solidFill>
                <a:cs typeface="Times New Roman" panose="02020603050405020304" pitchFamily="18" charset="0"/>
              </a:rPr>
              <a:t>MongoDB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980728"/>
            <a:ext cx="8640960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MongoDB:</a:t>
            </a:r>
            <a:r>
              <a:rPr lang="ru-RU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-ориентированная СУБД с открытым исходным кодом.</a:t>
            </a:r>
          </a:p>
          <a:p>
            <a:pPr marL="114300" lv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</a:pPr>
            <a:r>
              <a:rPr lang="ru-RU" u="sng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Атомарные операции над документами.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запросов, сопоставимый с SQL.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требует какого-либо описания схемы базы данных.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Поддерживаются индексы, в том числе по массивам и вложенным документам.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журналирование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асинхронная репликация двух видов –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master-slave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репликация и наборы реплик.</a:t>
            </a: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Документы могут быть автоматически сегментированы.</a:t>
            </a:r>
          </a:p>
          <a:p>
            <a:pPr marL="45720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FontTx/>
              <a:buChar char="●"/>
            </a:pPr>
            <a:r>
              <a:rPr lang="ru-RU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Поддерживает </a:t>
            </a:r>
            <a:r>
              <a:rPr lang="ru-RU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MapReduce</a:t>
            </a:r>
            <a:r>
              <a:rPr lang="ru-RU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(модель распределённых вычислений, используемая для параллельных вычислений над очень большими (до нескольких петабайт) наборами данных в компьютерных кластерах).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хранить бинарные данные – изображения, видео и так далее. </a:t>
            </a:r>
            <a:endParaRPr lang="ru-RU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Атомарность операций гарантируется только на уровне отдельных документов. </a:t>
            </a:r>
            <a:endParaRPr lang="ru-RU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4290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800"/>
              <a:buChar char="●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Отсутствуют транзакции и инструменты поддержки целостности (но существуют первичные ключи).</a:t>
            </a:r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MongoDB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272268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1772816"/>
            <a:ext cx="2697992" cy="29422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</a:t>
            </a:r>
            <a:r>
              <a:rPr 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áblázat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92566"/>
              </p:ext>
            </p:extLst>
          </p:nvPr>
        </p:nvGraphicFramePr>
        <p:xfrm>
          <a:off x="323528" y="2239834"/>
          <a:ext cx="4752528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RDBMS</a:t>
                      </a: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MongoDB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Collection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</a:t>
                      </a:r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(JSON, BSON)</a:t>
                      </a: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</a:t>
                      </a:r>
                      <a:endParaRPr lang="hu-HU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</a:t>
                      </a:r>
                      <a:r>
                        <a:rPr lang="hu-HU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hu-HU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</a:t>
                      </a:r>
                      <a:endParaRPr lang="hu-HU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Foreign</a:t>
                      </a:r>
                      <a:r>
                        <a:rPr lang="hu-H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Key</a:t>
                      </a: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Partition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tc>
                  <a:txBody>
                    <a:bodyPr/>
                    <a:lstStyle/>
                    <a:p>
                      <a:r>
                        <a:rPr lang="hu-HU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Shard</a:t>
                      </a:r>
                      <a:endParaRPr lang="hu-H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70" marR="68570"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Jobbra nyíl 2"/>
          <p:cNvSpPr/>
          <p:nvPr/>
        </p:nvSpPr>
        <p:spPr>
          <a:xfrm>
            <a:off x="1846413" y="5025938"/>
            <a:ext cx="215503" cy="14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8" name="Jobbra nyíl 7"/>
          <p:cNvSpPr/>
          <p:nvPr/>
        </p:nvSpPr>
        <p:spPr>
          <a:xfrm>
            <a:off x="1846413" y="5382821"/>
            <a:ext cx="215503" cy="14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9" name="Jobbra nyíl 8"/>
          <p:cNvSpPr/>
          <p:nvPr/>
        </p:nvSpPr>
        <p:spPr>
          <a:xfrm>
            <a:off x="1846413" y="2730502"/>
            <a:ext cx="215503" cy="142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0" name="Jobbra nyíl 9"/>
          <p:cNvSpPr/>
          <p:nvPr/>
        </p:nvSpPr>
        <p:spPr>
          <a:xfrm>
            <a:off x="1846413" y="3089277"/>
            <a:ext cx="215503" cy="14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1" name="Jobbra nyíl 10"/>
          <p:cNvSpPr/>
          <p:nvPr/>
        </p:nvSpPr>
        <p:spPr>
          <a:xfrm>
            <a:off x="1846413" y="3449638"/>
            <a:ext cx="215503" cy="144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2" name="Jobbra nyíl 11"/>
          <p:cNvSpPr/>
          <p:nvPr/>
        </p:nvSpPr>
        <p:spPr>
          <a:xfrm>
            <a:off x="1844032" y="3881438"/>
            <a:ext cx="216694" cy="144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4" name="Jobbra nyíl 13"/>
          <p:cNvSpPr/>
          <p:nvPr/>
        </p:nvSpPr>
        <p:spPr>
          <a:xfrm>
            <a:off x="1835696" y="4221163"/>
            <a:ext cx="215504" cy="1444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5" name="Jobbra nyíl 14"/>
          <p:cNvSpPr/>
          <p:nvPr/>
        </p:nvSpPr>
        <p:spPr>
          <a:xfrm>
            <a:off x="1835696" y="4581527"/>
            <a:ext cx="215504" cy="142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/>
          </a:p>
        </p:txBody>
      </p:sp>
      <p:sp>
        <p:nvSpPr>
          <p:cNvPr id="13" name="Lekerekített téglalap 12"/>
          <p:cNvSpPr/>
          <p:nvPr/>
        </p:nvSpPr>
        <p:spPr>
          <a:xfrm>
            <a:off x="5156237" y="1124744"/>
            <a:ext cx="3952267" cy="51441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hu-HU" sz="2000" dirty="0"/>
              <a:t>&gt; </a:t>
            </a:r>
            <a:r>
              <a:rPr lang="hu-HU" sz="2000" dirty="0" err="1"/>
              <a:t>db.user.findOne</a:t>
            </a:r>
            <a:r>
              <a:rPr lang="hu-HU" sz="2000" dirty="0"/>
              <a:t>({</a:t>
            </a:r>
            <a:r>
              <a:rPr lang="hu-HU" sz="2000" dirty="0" err="1"/>
              <a:t>age</a:t>
            </a:r>
            <a:r>
              <a:rPr lang="hu-HU" sz="2000" dirty="0"/>
              <a:t>:39})</a:t>
            </a:r>
          </a:p>
          <a:p>
            <a:pPr>
              <a:defRPr/>
            </a:pPr>
            <a:r>
              <a:rPr lang="hu-HU" sz="2000" dirty="0"/>
              <a:t>{</a:t>
            </a:r>
          </a:p>
          <a:p>
            <a:pPr>
              <a:defRPr/>
            </a:pPr>
            <a:r>
              <a:rPr lang="hu-HU" sz="2000" dirty="0"/>
              <a:t>        "_</a:t>
            </a:r>
            <a:r>
              <a:rPr lang="hu-HU" sz="2000" dirty="0" err="1"/>
              <a:t>id</a:t>
            </a:r>
            <a:r>
              <a:rPr lang="hu-HU" sz="2000" dirty="0"/>
              <a:t>" : </a:t>
            </a:r>
            <a:r>
              <a:rPr lang="hu-HU" sz="2000" dirty="0" err="1"/>
              <a:t>ObjectId</a:t>
            </a:r>
            <a:r>
              <a:rPr lang="hu-HU" sz="2000" dirty="0"/>
              <a:t>("5114e0bd42…"),</a:t>
            </a:r>
          </a:p>
          <a:p>
            <a:pPr>
              <a:defRPr/>
            </a:pPr>
            <a:r>
              <a:rPr lang="hu-HU" sz="2000" dirty="0"/>
              <a:t>        "</a:t>
            </a:r>
            <a:r>
              <a:rPr lang="hu-HU" sz="2000" dirty="0" err="1"/>
              <a:t>first</a:t>
            </a:r>
            <a:r>
              <a:rPr lang="hu-HU" sz="2000" dirty="0"/>
              <a:t>" : "John",</a:t>
            </a:r>
          </a:p>
          <a:p>
            <a:pPr>
              <a:defRPr/>
            </a:pPr>
            <a:r>
              <a:rPr lang="hu-HU" sz="2000" dirty="0"/>
              <a:t>        "</a:t>
            </a:r>
            <a:r>
              <a:rPr lang="hu-HU" sz="2000" dirty="0" err="1"/>
              <a:t>last</a:t>
            </a:r>
            <a:r>
              <a:rPr lang="hu-HU" sz="2000" dirty="0"/>
              <a:t>" : "</a:t>
            </a:r>
            <a:r>
              <a:rPr lang="hu-HU" sz="2000" dirty="0" err="1"/>
              <a:t>Doe</a:t>
            </a:r>
            <a:r>
              <a:rPr lang="hu-HU" sz="2000" dirty="0"/>
              <a:t>",</a:t>
            </a:r>
          </a:p>
          <a:p>
            <a:pPr>
              <a:defRPr/>
            </a:pPr>
            <a:r>
              <a:rPr lang="hu-HU" sz="2000" dirty="0"/>
              <a:t>        "</a:t>
            </a:r>
            <a:r>
              <a:rPr lang="hu-HU" sz="2000" dirty="0" err="1"/>
              <a:t>age</a:t>
            </a:r>
            <a:r>
              <a:rPr lang="hu-HU" sz="2000" dirty="0"/>
              <a:t>" : 39, </a:t>
            </a:r>
          </a:p>
          <a:p>
            <a:pPr>
              <a:defRPr/>
            </a:pPr>
            <a:r>
              <a:rPr lang="hu-HU" sz="2000" dirty="0"/>
              <a:t>       "</a:t>
            </a:r>
            <a:r>
              <a:rPr lang="hu-HU" sz="2000" dirty="0" err="1"/>
              <a:t>interests</a:t>
            </a:r>
            <a:r>
              <a:rPr lang="hu-HU" sz="2000" dirty="0"/>
              <a:t>" : [</a:t>
            </a:r>
          </a:p>
          <a:p>
            <a:pPr>
              <a:defRPr/>
            </a:pPr>
            <a:r>
              <a:rPr lang="hu-HU" sz="2000" dirty="0"/>
              <a:t>                "</a:t>
            </a:r>
            <a:r>
              <a:rPr lang="hu-HU" sz="2000" dirty="0" err="1"/>
              <a:t>Reading</a:t>
            </a:r>
            <a:r>
              <a:rPr lang="hu-HU" sz="2000" dirty="0"/>
              <a:t>",</a:t>
            </a:r>
          </a:p>
          <a:p>
            <a:pPr>
              <a:defRPr/>
            </a:pPr>
            <a:r>
              <a:rPr lang="hu-HU" sz="2000" dirty="0"/>
              <a:t>                "Mountain </a:t>
            </a:r>
            <a:r>
              <a:rPr lang="hu-HU" sz="2000" dirty="0" err="1"/>
              <a:t>Biking</a:t>
            </a:r>
            <a:r>
              <a:rPr lang="hu-HU" sz="2000" dirty="0"/>
              <a:t> ]</a:t>
            </a:r>
          </a:p>
          <a:p>
            <a:pPr>
              <a:defRPr/>
            </a:pPr>
            <a:r>
              <a:rPr lang="hu-HU" sz="2000" dirty="0"/>
              <a:t>       </a:t>
            </a:r>
            <a:r>
              <a:rPr lang="en-US" sz="2000" dirty="0"/>
              <a:t>"favorites": { </a:t>
            </a:r>
            <a:endParaRPr lang="hu-HU" sz="2000" dirty="0"/>
          </a:p>
          <a:p>
            <a:pPr>
              <a:defRPr/>
            </a:pPr>
            <a:r>
              <a:rPr lang="hu-HU" sz="2000" dirty="0"/>
              <a:t>               </a:t>
            </a:r>
            <a:r>
              <a:rPr lang="en-US" sz="2000" dirty="0"/>
              <a:t>"color": "Blue", </a:t>
            </a:r>
            <a:endParaRPr lang="hu-HU" sz="2000" dirty="0"/>
          </a:p>
          <a:p>
            <a:pPr>
              <a:defRPr/>
            </a:pPr>
            <a:r>
              <a:rPr lang="hu-HU" sz="2000" dirty="0"/>
              <a:t>               </a:t>
            </a:r>
            <a:r>
              <a:rPr lang="en-US" sz="2000" dirty="0"/>
              <a:t>"sport": "Soccer"} </a:t>
            </a:r>
            <a:endParaRPr lang="hu-HU" sz="2000" b="1" dirty="0"/>
          </a:p>
          <a:p>
            <a:pPr>
              <a:defRPr/>
            </a:pPr>
            <a:r>
              <a:rPr lang="hu-HU" sz="2000" dirty="0"/>
              <a:t>}</a:t>
            </a:r>
          </a:p>
        </p:txBody>
      </p:sp>
      <p:pic>
        <p:nvPicPr>
          <p:cNvPr id="16386" name="Picture 2" descr="MongoDB-Logo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" y="124657"/>
            <a:ext cx="4679516" cy="1693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MongoDB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36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39797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539552" y="908720"/>
            <a:ext cx="8246740" cy="568863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ru-RU" sz="18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Формат хранения данных:</a:t>
            </a:r>
            <a:r>
              <a:rPr lang="ru-RU" sz="18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BSON (</a:t>
            </a:r>
            <a:r>
              <a:rPr lang="ru-RU" sz="1800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binary</a:t>
            </a:r>
            <a:r>
              <a:rPr lang="ru-RU" sz="18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 JSON) - формат электронного обмена цифровыми данными, основанный на </a:t>
            </a:r>
            <a:r>
              <a:rPr lang="ru-RU" sz="1800" dirty="0" err="1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JavaScript</a:t>
            </a:r>
            <a:r>
              <a:rPr lang="ru-RU" sz="1800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, бинарная форма представления простых структур данных и ассоциативных массивов. Каждый документ представляет собой JSON-подобную структуру. Является надмножеством JSON, включая дополнительно регулярные выражения, двоичные данные и даты.</a:t>
            </a:r>
            <a:endParaRPr lang="ru-RU" alt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hu-H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</a:t>
            </a:r>
            <a:r>
              <a:rPr lang="ru-R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операции над данными:</a:t>
            </a:r>
          </a:p>
          <a:p>
            <a:r>
              <a:rPr lang="hu-H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db.collection.insert( &lt;document&gt; ) 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db.collection.save( &lt;document&gt; ) 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db.collection.update( &lt;query&gt;, &lt;update&gt;, { upsert: true } ) </a:t>
            </a:r>
          </a:p>
          <a:p>
            <a:r>
              <a:rPr lang="hu-H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db.collection.find( &lt;query&gt;, &lt;projection&gt; )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db.collection.findOne( &lt;query&gt;, &lt;projection&gt; ) </a:t>
            </a:r>
          </a:p>
          <a:p>
            <a:r>
              <a:rPr lang="hu-H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db.collection.update( &lt;query&gt;, &lt;update&gt;, &lt;options&gt; ) </a:t>
            </a:r>
          </a:p>
          <a:p>
            <a:r>
              <a:rPr lang="hu-HU" alt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</a:p>
          <a:p>
            <a:pPr lvl="1"/>
            <a:r>
              <a:rPr lang="hu-H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db.collection.remove( &lt;query&gt;, &lt;justOne&gt; )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en-US" sz="2800" b="1" kern="0" dirty="0">
                <a:solidFill>
                  <a:schemeClr val="dk1"/>
                </a:solidFill>
                <a:cs typeface="Times New Roman" panose="02020603050405020304" pitchFamily="18" charset="0"/>
              </a:rPr>
              <a:t>MongoDB: </a:t>
            </a:r>
            <a:r>
              <a:rPr lang="ru-RU" sz="2800" b="1" kern="0" dirty="0">
                <a:solidFill>
                  <a:schemeClr val="dk1"/>
                </a:solidFill>
                <a:cs typeface="Times New Roman" panose="02020603050405020304" pitchFamily="18" charset="0"/>
              </a:rPr>
              <a:t>хранение данных</a:t>
            </a:r>
            <a:endParaRPr lang="ru-RU" altLang="ru-RU" sz="2800" kern="0" dirty="0"/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MongoDB	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37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32093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https://miro.medium.com/max/555/1*4zRFGSXdPXA5UOGQ-ogJp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557119"/>
            <a:ext cx="3168352" cy="2312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miro.medium.com/max/538/1*-X88nM5oGTcayFd2Xe4oN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910055"/>
            <a:ext cx="3447678" cy="3255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1072335"/>
          </a:xfrm>
        </p:spPr>
        <p:txBody>
          <a:bodyPr>
            <a:normAutofit/>
          </a:bodyPr>
          <a:lstStyle/>
          <a:p>
            <a:r>
              <a:rPr lang="ru-RU" sz="1600" dirty="0"/>
              <a:t>Граф — абстрактный математический объект, представляющий собой множество </a:t>
            </a:r>
            <a:r>
              <a:rPr lang="ru-RU" sz="1600" b="1" i="1" dirty="0"/>
              <a:t>вершин</a:t>
            </a:r>
            <a:r>
              <a:rPr lang="ru-RU" sz="1600" dirty="0"/>
              <a:t>  (точек) и набор </a:t>
            </a:r>
            <a:r>
              <a:rPr lang="ru-RU" sz="1600" b="1" i="1" dirty="0"/>
              <a:t>рёбер  (</a:t>
            </a:r>
            <a:r>
              <a:rPr lang="ru-RU" sz="1600" dirty="0"/>
              <a:t>линий</a:t>
            </a:r>
            <a:r>
              <a:rPr lang="ru-RU" sz="1600" i="1" dirty="0"/>
              <a:t>)</a:t>
            </a:r>
            <a:r>
              <a:rPr lang="ru-RU" sz="1600" dirty="0"/>
              <a:t>, то есть соединений между парами вершин.</a:t>
            </a:r>
          </a:p>
        </p:txBody>
      </p:sp>
      <p:pic>
        <p:nvPicPr>
          <p:cNvPr id="1028" name="Picture 4" descr="https://miro.medium.com/max/583/1*XXqn8fVtme8vgNx4TQUAm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99" y="4491291"/>
            <a:ext cx="3227437" cy="2008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32240" y="3337247"/>
            <a:ext cx="2411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rPr>
              <a:t>Ориентированный граф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6588224" y="3717032"/>
            <a:ext cx="244827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 err="1"/>
              <a:t>Графовые</a:t>
            </a:r>
            <a:r>
              <a:rPr lang="ru-RU" altLang="ru-RU" sz="2800" b="1" dirty="0"/>
              <a:t> базы данных: общие сведения</a:t>
            </a:r>
            <a:endParaRPr lang="ru-RU" altLang="ru-RU" sz="2800" dirty="0"/>
          </a:p>
        </p:txBody>
      </p:sp>
      <p:sp>
        <p:nvSpPr>
          <p:cNvPr id="11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38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4306596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https://miro.medium.com/max/508/1*ODj-sP9l5B-x7WxfligGL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196753"/>
            <a:ext cx="2895310" cy="196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iro.medium.com/max/713/1*BQoFqr3ICw0nUIvXN0qx2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96752"/>
            <a:ext cx="3168352" cy="200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https://miro.medium.com/max/385/1*saLri21rueiH3bu0OdR4k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7710" y="1124744"/>
            <a:ext cx="2274770" cy="214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3301" y="980728"/>
            <a:ext cx="20697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Связанный граф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366015" y="980728"/>
            <a:ext cx="29450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Сильно связанный граф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347276" y="3395071"/>
            <a:ext cx="2247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Взвешенный граф</a:t>
            </a:r>
          </a:p>
        </p:txBody>
      </p:sp>
      <p:pic>
        <p:nvPicPr>
          <p:cNvPr id="2056" name="Picture 8" descr="https://miro.medium.com/max/903/1*4ZNLkdIReLNVl9plYqrauw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850" y="3611095"/>
            <a:ext cx="3009638" cy="18341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6476565" y="980728"/>
            <a:ext cx="1590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Мультиграф</a:t>
            </a:r>
            <a:endParaRPr lang="ru-RU" dirty="0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en-US" altLang="ru-RU" sz="2800" b="1" kern="0" dirty="0"/>
              <a:t>NoSQL: </a:t>
            </a:r>
            <a:r>
              <a:rPr lang="ru-RU" altLang="ru-RU" sz="2800" b="1" kern="0" dirty="0" err="1"/>
              <a:t>графовые</a:t>
            </a:r>
            <a:r>
              <a:rPr lang="ru-RU" altLang="ru-RU" sz="2800" b="1" kern="0" dirty="0"/>
              <a:t> базы данных</a:t>
            </a:r>
            <a:endParaRPr lang="ru-RU" altLang="ru-RU" sz="2800" kern="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3140968"/>
            <a:ext cx="585385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Самая популярная </a:t>
            </a:r>
            <a:r>
              <a:rPr lang="ru-RU" dirty="0" err="1"/>
              <a:t>графовая</a:t>
            </a:r>
            <a:r>
              <a:rPr lang="ru-RU" dirty="0"/>
              <a:t> модель - </a:t>
            </a:r>
          </a:p>
          <a:p>
            <a:r>
              <a:rPr lang="ru-RU" b="1" dirty="0"/>
              <a:t>модель с метками и свойствами</a:t>
            </a:r>
            <a:r>
              <a:rPr lang="ru-RU" dirty="0"/>
              <a:t>. </a:t>
            </a:r>
          </a:p>
          <a:p>
            <a:pPr>
              <a:spcBef>
                <a:spcPts val="600"/>
              </a:spcBef>
            </a:pPr>
            <a:r>
              <a:rPr lang="ru-RU" dirty="0"/>
              <a:t>Она имеет следующие характеристики: </a:t>
            </a:r>
          </a:p>
          <a:p>
            <a:pPr>
              <a:spcBef>
                <a:spcPts val="600"/>
              </a:spcBef>
            </a:pPr>
            <a:r>
              <a:rPr lang="ru-RU" dirty="0"/>
              <a:t>• содержит узлы и взаимосвязи; </a:t>
            </a:r>
          </a:p>
          <a:p>
            <a:pPr>
              <a:spcBef>
                <a:spcPts val="600"/>
              </a:spcBef>
            </a:pPr>
            <a:r>
              <a:rPr lang="ru-RU" dirty="0"/>
              <a:t>• у узлов есть свойства (пары ключ-значение); </a:t>
            </a:r>
          </a:p>
          <a:p>
            <a:pPr>
              <a:spcBef>
                <a:spcPts val="600"/>
              </a:spcBef>
            </a:pPr>
            <a:r>
              <a:rPr lang="ru-RU" dirty="0"/>
              <a:t>• узлы должны быть помечены одной или более метками; </a:t>
            </a:r>
          </a:p>
          <a:p>
            <a:pPr>
              <a:spcBef>
                <a:spcPts val="600"/>
              </a:spcBef>
            </a:pPr>
            <a:r>
              <a:rPr lang="ru-RU" dirty="0"/>
              <a:t>• взаимосвязи имеют имя и направление, для них всегда определен начальный и конечный узлы; </a:t>
            </a:r>
          </a:p>
          <a:p>
            <a:pPr>
              <a:spcBef>
                <a:spcPts val="600"/>
              </a:spcBef>
            </a:pPr>
            <a:r>
              <a:rPr lang="ru-RU" dirty="0"/>
              <a:t>• у взаимосвязей также имеются свойства.</a:t>
            </a:r>
          </a:p>
        </p:txBody>
      </p:sp>
      <p:sp>
        <p:nvSpPr>
          <p:cNvPr id="13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39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643632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124744"/>
            <a:ext cx="8075240" cy="1659639"/>
          </a:xfrm>
        </p:spPr>
        <p:txBody>
          <a:bodyPr>
            <a:normAutofit fontScale="62500" lnSpcReduction="2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 преимуществом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 данных является наличие в них специальных механизмов поиска по графам.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того, в них можно хранить и реляционные, и сложные семантические данные, и документы. Сама модель построения БД может меняться и модифицироваться в процессе развития данных без изменения архитектуры и исходных запросов. </a:t>
            </a:r>
          </a:p>
        </p:txBody>
      </p:sp>
      <p:pic>
        <p:nvPicPr>
          <p:cNvPr id="4100" name="Picture 4" descr="Analyzing the BuzzFeed TrumpWorld Dataset with Neo4j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29" b="2785"/>
          <a:stretch/>
        </p:blipFill>
        <p:spPr bwMode="auto">
          <a:xfrm>
            <a:off x="1835696" y="2924944"/>
            <a:ext cx="5160491" cy="351360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NoSQL: </a:t>
            </a:r>
            <a:r>
              <a:rPr lang="ru-RU" altLang="ru-RU" sz="2800" b="1" dirty="0" err="1"/>
              <a:t>графовые</a:t>
            </a:r>
            <a:r>
              <a:rPr lang="ru-RU" altLang="ru-RU" sz="2800" b="1" dirty="0"/>
              <a:t> базы данных</a:t>
            </a:r>
            <a:endParaRPr lang="ru-RU" altLang="ru-RU" sz="2800" dirty="0"/>
          </a:p>
        </p:txBody>
      </p:sp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40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793537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miro.medium.com/max/3864/1*Ut6MhmAErgU3pjqmWHa32w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969296"/>
            <a:ext cx="5616624" cy="345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95536" y="980728"/>
            <a:ext cx="8352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первая и самая распространенная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БД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(Фильмы):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Вершины графа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имеют свой тип, в БД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нас 2 типа вершин: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(name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актера,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born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 рождения).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(title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наименование фильма,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released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 выхода).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с БД используется язык запросов 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Cypher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Cypher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декларативный язык запросов в виде графа.</a:t>
            </a:r>
          </a:p>
        </p:txBody>
      </p:sp>
      <p:sp>
        <p:nvSpPr>
          <p:cNvPr id="7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41</a:t>
            </a:fld>
            <a:endParaRPr lang="ru-RU" altLang="ru-RU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 err="1"/>
              <a:t>Графовая</a:t>
            </a:r>
            <a:r>
              <a:rPr lang="ru-RU" altLang="ru-RU" sz="2800" b="1" kern="0" dirty="0"/>
              <a:t> СУБД</a:t>
            </a:r>
            <a:r>
              <a:rPr lang="en-US" altLang="ru-RU" sz="2800" b="1" kern="0" dirty="0"/>
              <a:t> Neo4j</a:t>
            </a:r>
            <a:endParaRPr lang="ru-RU" altLang="ru-RU" sz="2800" kern="0" dirty="0"/>
          </a:p>
        </p:txBody>
      </p:sp>
    </p:spTree>
    <p:extLst>
      <p:ext uri="{BB962C8B-B14F-4D97-AF65-F5344CB8AC3E}">
        <p14:creationId xmlns:p14="http://schemas.microsoft.com/office/powerpoint/2010/main" val="2385757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 err="1"/>
              <a:t>Графовая</a:t>
            </a:r>
            <a:r>
              <a:rPr lang="ru-RU" altLang="ru-RU" sz="2800" b="1" kern="0" dirty="0"/>
              <a:t> СУБД</a:t>
            </a:r>
            <a:r>
              <a:rPr lang="en-US" altLang="ru-RU" sz="2800" b="1" kern="0" dirty="0"/>
              <a:t> Neo4j</a:t>
            </a:r>
            <a:endParaRPr lang="ru-RU" altLang="ru-RU" sz="2800" kern="0" dirty="0"/>
          </a:p>
        </p:txBody>
      </p:sp>
      <p:sp>
        <p:nvSpPr>
          <p:cNvPr id="4" name="TextBox 3"/>
          <p:cNvSpPr txBox="1"/>
          <p:nvPr/>
        </p:nvSpPr>
        <p:spPr>
          <a:xfrm>
            <a:off x="1608584" y="908720"/>
            <a:ext cx="4331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актёра с именем «Том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Хэнкс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3929" y="5373216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https://www.geeksforgeeks.org/neo4j-create-index/</a:t>
            </a:r>
            <a:r>
              <a:rPr lang="en-US" dirty="0"/>
              <a:t> </a:t>
            </a:r>
            <a:r>
              <a:rPr lang="ru-RU" dirty="0"/>
              <a:t> - о создании индекса в Neo4j</a:t>
            </a:r>
            <a:r>
              <a:rPr lang="en-US" dirty="0"/>
              <a:t>.</a:t>
            </a:r>
          </a:p>
          <a:p>
            <a:r>
              <a:rPr lang="en-GB" dirty="0">
                <a:hlinkClick r:id="rId4"/>
              </a:rPr>
              <a:t>https://dev-gang.ru/article/kak-rabotaet-indeksacija-v-baze-dannyh-nebulagraph-dmqs0j9s9r/</a:t>
            </a:r>
            <a:r>
              <a:rPr lang="ru-RU" dirty="0"/>
              <a:t> - Тим </a:t>
            </a:r>
            <a:r>
              <a:rPr lang="ru-RU" dirty="0" err="1"/>
              <a:t>Тоуди</a:t>
            </a:r>
            <a:r>
              <a:rPr lang="ru-RU" dirty="0"/>
              <a:t>. Как работает индексация в базе данных </a:t>
            </a:r>
            <a:r>
              <a:rPr lang="en-US" dirty="0" err="1"/>
              <a:t>NebulaGraph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42</a:t>
            </a:fld>
            <a:endParaRPr lang="ru-RU" altLang="ru-RU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502" y="2348880"/>
            <a:ext cx="6140842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1340768"/>
            <a:ext cx="61626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1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miro.medium.com/max/4320/1*yAE6wBOKe5DlZHypE82Upw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85"/>
          <a:stretch/>
        </p:blipFill>
        <p:spPr bwMode="auto">
          <a:xfrm>
            <a:off x="1105160" y="1340768"/>
            <a:ext cx="7139224" cy="109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s://miro.medium.com/max/3828/1*6y013hTbwgp7VDIH2X6v9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393" y="2492896"/>
            <a:ext cx="7094015" cy="3832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05160" y="908720"/>
            <a:ext cx="7787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фильмов, в которых снимался Том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Хэнкс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 err="1"/>
              <a:t>Графовая</a:t>
            </a:r>
            <a:r>
              <a:rPr lang="ru-RU" altLang="ru-RU" sz="2800" b="1" kern="0" dirty="0"/>
              <a:t> СУБД</a:t>
            </a:r>
            <a:r>
              <a:rPr lang="en-US" altLang="ru-RU" sz="2800" b="1" kern="0" dirty="0"/>
              <a:t> Neo4j</a:t>
            </a:r>
            <a:endParaRPr lang="ru-RU" altLang="ru-RU" sz="2800" kern="0" dirty="0"/>
          </a:p>
        </p:txBody>
      </p:sp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33059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https://miro.medium.com/max/2620/1*KyPPVmwB0JuYQZMh4gEm2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5" y="1268760"/>
            <a:ext cx="8692602" cy="236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908720"/>
            <a:ext cx="8291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Найдём актёров, которые снимались вместе с Томом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Хэнксом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Picture 6" descr="https://miro.medium.com/max/4328/1*fbZp0MD1weTPqgrcNTwrHA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332" y="2132856"/>
            <a:ext cx="6233012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 err="1"/>
              <a:t>Графовая</a:t>
            </a:r>
            <a:r>
              <a:rPr lang="ru-RU" altLang="ru-RU" sz="2800" b="1" kern="0" dirty="0"/>
              <a:t> СУБД</a:t>
            </a:r>
            <a:r>
              <a:rPr lang="en-US" altLang="ru-RU" sz="2800" b="1" kern="0" dirty="0"/>
              <a:t> Neo4j</a:t>
            </a:r>
            <a:endParaRPr lang="ru-RU" altLang="ru-RU" sz="2800" kern="0" dirty="0"/>
          </a:p>
        </p:txBody>
      </p:sp>
      <p:sp>
        <p:nvSpPr>
          <p:cNvPr id="9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44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8151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980728"/>
            <a:ext cx="8784976" cy="568863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 данных: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Социальные сети.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рекомендаций ("с этим товаром часто покупают…").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пользовательских данных, корреляция данных из разных источников (информационный след в сети).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Достоинства: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 понятны на интуитивном уровне и являются частью школьной программы, поэтому их можно использовать при обсуждении задач с клиентом.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скорость вычисления задач на графах (поиск путей, подграфы и т.д.).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Широкие возможности для моделирования сложных взаимосвязей между данными.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 простой язык запросов и наглядный результат.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Гибкая структура данных, простота внесения изменений в случае появления новых или изменения существующих требований.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 занимает заметно больше места на диске, по отношению к реляционным СУБД.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простых запросах производительность ниже, чем в реляционных базах.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обучать разработчиков.</a:t>
            </a:r>
          </a:p>
          <a:p>
            <a:pPr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Сложности масштабирования (связаны с большим объемом данных о связях и высокими затратами на поиск "точки входа в граф").</a:t>
            </a:r>
          </a:p>
          <a:p>
            <a:pPr marL="0" indent="0">
              <a:spcBef>
                <a:spcPts val="0"/>
              </a:spcBef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7200" y="332656"/>
            <a:ext cx="82296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ts val="600"/>
              </a:spcBef>
            </a:pPr>
            <a:r>
              <a:rPr lang="ru-RU" altLang="ru-RU" sz="2800" b="1" kern="0" dirty="0" err="1"/>
              <a:t>Графовые</a:t>
            </a:r>
            <a:r>
              <a:rPr lang="ru-RU" altLang="ru-RU" sz="2800" b="1" kern="0" dirty="0"/>
              <a:t> базы данных: итоги</a:t>
            </a:r>
            <a:endParaRPr lang="ru-RU" altLang="ru-RU" sz="2800" kern="0" dirty="0"/>
          </a:p>
        </p:txBody>
      </p:sp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 err="1">
                <a:solidFill>
                  <a:schemeClr val="accent5">
                    <a:lumMod val="50000"/>
                  </a:schemeClr>
                </a:solidFill>
              </a:rPr>
              <a:t>графовые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базы данных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45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66854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en-US" altLang="ru-RU" sz="2800" b="1" dirty="0"/>
              <a:t>NoSQL</a:t>
            </a:r>
            <a:r>
              <a:rPr lang="ru-RU" altLang="ru-RU" sz="2800" b="1" dirty="0"/>
              <a:t>: колоночные хранилища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Fay Chang, Jeffrey Dean, Sanjay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Ghemawat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Wilson C. Hsieh, Deborah A. Wallach Mike Burrows,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Chandra, Andrew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Robert E. Gruber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Bigtable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Distributed Storage System for Structured Data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Google, Inc.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2006</a:t>
            </a:r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088" y="2376835"/>
            <a:ext cx="6472237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колоночные хранилища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46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2936028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Колоночные хранилища: </a:t>
            </a:r>
            <a:r>
              <a:rPr lang="ru-RU" sz="2800" b="1" dirty="0" err="1"/>
              <a:t>Hbase</a:t>
            </a:r>
            <a:r>
              <a:rPr lang="ru-RU" sz="2800" b="1" dirty="0"/>
              <a:t> </a:t>
            </a:r>
            <a:endParaRPr lang="ru-RU" altLang="ru-RU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4249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распределенная,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колоночно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-ориентированная,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мультиверсионная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 типа «ключ-значение».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организованы в таблицы, проиндексированные первичным ключом, который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ключа может храниться неограниченны набор атрибутов (или колонок).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Колонки организованны в группы колонок, называемые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Как правило в одну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объединяют колонки, для которых одинаковы паттерн использования и хранения.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каждого атрибута может храниться несколько различных версий. Разные версии имеют разный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Записи физически хранятся в отсортированном по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порядке. При этом данные соответствующие разным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хранятся отдельно, что позволяет при необходимости читать данные только из нужного семейства колонок.</a:t>
            </a:r>
          </a:p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удалении определённого атрибута физически он сразу не удаляется, а лишь маркируется специальным флажком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tombstone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Физическое удаление данных произойдет позже, при выполнении операции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колоночные хранилища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47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10612429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7"/>
            <a:ext cx="8229600" cy="648072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sz="2800" b="1" dirty="0" err="1"/>
              <a:t>Hbase</a:t>
            </a:r>
            <a:r>
              <a:rPr lang="ru-RU" sz="2800" b="1" dirty="0"/>
              <a:t>: хранение данных</a:t>
            </a:r>
            <a:endParaRPr lang="ru-RU" altLang="ru-RU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836712"/>
            <a:ext cx="8424936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Атрибуты, принадлежащие одной группе колонок и соответствующие одному ключу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 хранятся как отсортированный список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Любой атрибут может отсутствовать или присутствовать для каждого ключа, при этом если атрибут отсутствует — это не вызывает накладных расходов на хранение пустых значений.</a:t>
            </a:r>
          </a:p>
          <a:p>
            <a:pPr>
              <a:spcBef>
                <a:spcPts val="6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 названия групп колонок фиксирован и имеет четкую схему.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уровне группы колонок задаются такие параметры как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(TTL) и максимальное количество хранимых версий. Если разница между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определенно версии и текущим временем больше TTL — запись помечается к удалению. 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208386"/>
            <a:ext cx="5760640" cy="2596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3429000"/>
            <a:ext cx="2520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количество версий для определённого атрибута превысило максимальное количество версий — запись также помечается к удалению.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5805264"/>
            <a:ext cx="8208912" cy="6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данных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запомнить как соответствие ключ - значение: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Column Family, Column, timestamp&gt; -&gt; Value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колоночные хранилища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48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2920948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sz="2800" b="1" dirty="0" err="1">
                <a:latin typeface="+mn-lt"/>
              </a:rPr>
              <a:t>Hbase</a:t>
            </a:r>
            <a:r>
              <a:rPr lang="ru-RU" sz="2800" b="1" dirty="0">
                <a:latin typeface="+mn-lt"/>
              </a:rPr>
              <a:t>: п</a:t>
            </a:r>
            <a:r>
              <a:rPr lang="ru-RU" sz="2800" b="1" dirty="0">
                <a:latin typeface="+mn-lt"/>
                <a:cs typeface="Times New Roman" panose="02020603050405020304" pitchFamily="18" charset="0"/>
              </a:rPr>
              <a:t>оддерживаемые операции</a:t>
            </a:r>
            <a:endParaRPr lang="ru-RU" altLang="ru-RU" sz="2800" b="1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424936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добавить новую запись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этой записи может быть задан вручную, в противном случае он будет установлен автоматически как текущее время.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получить данные по определенному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Можно указать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из которой берутся данные, и количество версий, которые требуется прочитать.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читать записи по очереди. Можно указать запись, с которой начинается чтение; запись, до которой необходимо читать; количество записей, которые необходимо считать,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из которой будет производиться чтение, и максимальное количество версий для каждой записи.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пометить определенную версию к удалению. Физического удаления при этом не произойдет, оно будет отложено до следующего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Compaction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колоночные хранилища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49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4102186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https://habrastorage.org/getpro/habr/post_images/c0d/1a9/217/c0d1a9217b4790f891aaa591cec266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836712"/>
            <a:ext cx="6192688" cy="515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739775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sz="2800" b="1" dirty="0" err="1"/>
              <a:t>Hbase</a:t>
            </a:r>
            <a:r>
              <a:rPr lang="ru-RU" sz="2800" b="1" dirty="0"/>
              <a:t>: архитектура</a:t>
            </a:r>
            <a:endParaRPr lang="ru-RU" altLang="ru-RU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980728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520" y="908720"/>
            <a:ext cx="266429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Region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обслуживает один или несколько 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регионов. 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Регион — это диапазон записей, соответствующих определенному диапазону подряд идущих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RowKey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главный сервер в кластере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управляет распределением регионов по серверам, ведет реестр регионов, управляет запусками регулярных задач и делает другую полезную работу.</a:t>
            </a:r>
          </a:p>
        </p:txBody>
      </p:sp>
      <p:sp>
        <p:nvSpPr>
          <p:cNvPr id="8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9. 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NoSQL: 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колоночные хранилища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50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4949410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9632" y="404664"/>
            <a:ext cx="6552728" cy="648072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3200" b="1" dirty="0"/>
              <a:t>10. </a:t>
            </a:r>
            <a:r>
              <a:rPr lang="en-US" altLang="ru-RU" sz="3200" b="1" dirty="0"/>
              <a:t>Big Data </a:t>
            </a:r>
            <a:r>
              <a:rPr lang="ru-RU" altLang="ru-RU" sz="3200" b="1" dirty="0"/>
              <a:t>(большие данные)</a:t>
            </a:r>
            <a:endParaRPr lang="ru-RU" altLang="ru-RU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980728"/>
            <a:ext cx="8856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большие данные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относится к наборам данных, превосходящих по размеру возможности традиционных СУБД по хранению, управлению и анализу данных.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Бóльшая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часть данных имеет неструктурированный формат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данных огромного объема и разнообразного состава, весьма часто обновляемыми и находящимися в разных источниках для увеличения эффективности работы, создания новых продуктов и повышения конкурентоспособности. </a:t>
            </a:r>
            <a:endParaRPr lang="ru-RU" dirty="0"/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10. "Большие данные" (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Big Data)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51</a:t>
            </a:fld>
            <a:endParaRPr lang="ru-RU" altLang="ru-RU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2852886"/>
            <a:ext cx="820102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6777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04664"/>
            <a:ext cx="8136904" cy="648072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Характеристики больших данных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052736"/>
            <a:ext cx="84249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Объемы данных таковы, что их невозможно хранить централизовано, и это требует распределенной обработки.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Прирост информации осуществляется с колоссальной скоростью. Все, происходящее вокруг людей, тем или иным способом производит новые сведения.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Разнообразие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Данные имеют разную структуру (или не имеют ее), разные форматы, разную природу и т.д.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Достоверность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Veracity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Слово говорит само за себя. В бизнесе должны быть задействованы только полезные и актуальные материалы.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Изменчивость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Значение одних и тех же данных может различаться в зависимости от контекста, например, одни и те же слова могут иметь различные значения и отражать различные настроения.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Визуализация больших объемов сложных данных гораздо более эффективна и понятна для человека, чем электронные таблицы и отчеты, полные чисел и формул.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Ценность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Свойство, которое каждой фирмой определяется в индивидуальном порядке. Специалист, работающий с большими датами, может найти так называемый КПД тех или иных сведений. Это помогает «отсеивать» лишнее.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10. "Большие данные" (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Big Data)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52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5390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04664"/>
            <a:ext cx="8424936" cy="648072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</a:pPr>
            <a:r>
              <a:rPr lang="ru-RU" altLang="ru-RU" sz="2800" b="1" dirty="0"/>
              <a:t>Этапы работы с большими данными</a:t>
            </a:r>
            <a:endParaRPr lang="ru-RU" altLang="ru-R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1052736"/>
            <a:ext cx="8424936" cy="5309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работы с большими данными: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данных.</a:t>
            </a:r>
          </a:p>
          <a:p>
            <a:pPr>
              <a:spcBef>
                <a:spcPts val="6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данных (включая очистку и верификацию).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данных.</a:t>
            </a:r>
          </a:p>
          <a:p>
            <a:pPr>
              <a:spcBef>
                <a:spcPts val="6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Осуществление управления: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места и способа хранения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способов загрузки  / выгрузки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Архивирование данных.</a:t>
            </a:r>
          </a:p>
          <a:p>
            <a:pPr>
              <a:spcBef>
                <a:spcPts val="6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анализа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специально обученных людей – аналитиков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данных. Сортировка данных и их «отсеивание».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обрабатываются при помощи разнообразных методов: машинное обучение и другие методы искусственного интеллекта, методы математической статистики (регрессионный анализ, корреляционный анализ) и т.д.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323528" y="6248400"/>
            <a:ext cx="8712968" cy="457200"/>
          </a:xfrm>
        </p:spPr>
        <p:txBody>
          <a:bodyPr/>
          <a:lstStyle/>
          <a:p>
            <a:pPr>
              <a:defRPr/>
            </a:pP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ru-RU" altLang="ru-RU" dirty="0">
                <a:solidFill>
                  <a:schemeClr val="accent5">
                    <a:lumMod val="50000"/>
                  </a:schemeClr>
                </a:solidFill>
              </a:rPr>
              <a:t>10. "Большие данные" (</a:t>
            </a:r>
            <a:r>
              <a:rPr lang="en-US" altLang="ru-RU" dirty="0">
                <a:solidFill>
                  <a:schemeClr val="accent5">
                    <a:lumMod val="50000"/>
                  </a:schemeClr>
                </a:solidFill>
              </a:rPr>
              <a:t>Big Data)</a:t>
            </a:r>
            <a:r>
              <a:rPr lang="ru-RU" altLang="ru-RU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ru-RU" altLang="ru-RU" dirty="0"/>
              <a:t>			</a:t>
            </a:r>
            <a:fld id="{30C1A9B2-D4D8-430A-9B97-CD7626AC306E}" type="slidenum">
              <a:rPr lang="ru-RU" altLang="ru-RU" smtClean="0"/>
              <a:pPr>
                <a:defRPr/>
              </a:pPr>
              <a:t>53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82549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39552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200" b="1" dirty="0"/>
              <a:t>1</a:t>
            </a:r>
            <a:r>
              <a:rPr lang="ru-RU" sz="3200" b="1" dirty="0"/>
              <a:t>4. </a:t>
            </a:r>
            <a:r>
              <a:rPr lang="ru-RU" sz="3200" b="1" dirty="0" err="1"/>
              <a:t>Мультимодельные</a:t>
            </a:r>
            <a:r>
              <a:rPr lang="ru-RU" sz="3200" b="1" dirty="0"/>
              <a:t> СУБД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54</a:t>
            </a:fld>
            <a:endParaRPr lang="ru-RU" altLang="ru-RU"/>
          </a:p>
        </p:txBody>
      </p:sp>
      <p:sp>
        <p:nvSpPr>
          <p:cNvPr id="3" name="TextBox 2"/>
          <p:cNvSpPr txBox="1"/>
          <p:nvPr/>
        </p:nvSpPr>
        <p:spPr>
          <a:xfrm>
            <a:off x="179512" y="6021288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/>
              </a:rPr>
              <a:t>https://db-engines.com/en/ranking/relational+dbms</a:t>
            </a:r>
            <a:r>
              <a:rPr lang="en-GB" dirty="0"/>
              <a:t> </a:t>
            </a:r>
            <a:endParaRPr lang="ru-RU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084585"/>
            <a:ext cx="8965514" cy="4720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41535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32656"/>
            <a:ext cx="8229600" cy="773113"/>
          </a:xfrm>
        </p:spPr>
        <p:txBody>
          <a:bodyPr/>
          <a:lstStyle/>
          <a:p>
            <a:pPr algn="ctr" eaLnBrk="1" hangingPunct="1"/>
            <a:r>
              <a:rPr lang="ru-RU" altLang="ru-RU" sz="3200" b="1" dirty="0"/>
              <a:t>Список источников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512" y="980728"/>
            <a:ext cx="878497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/>
              <a:t>Стулов А. Особенности построения информационных хранилищ. - "Открытые системы", №04, 2003. - </a:t>
            </a:r>
            <a:r>
              <a:rPr lang="en-US" altLang="ru-RU" sz="1600" dirty="0"/>
              <a:t>URL: </a:t>
            </a:r>
            <a:r>
              <a:rPr lang="en-US" altLang="ru-RU" sz="1600" dirty="0">
                <a:hlinkClick r:id="rId2"/>
              </a:rPr>
              <a:t>http://citforum.ru/database/articles/20030520/</a:t>
            </a:r>
            <a:r>
              <a:rPr lang="en-US" altLang="ru-RU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 err="1"/>
              <a:t>Стоунбрейкер</a:t>
            </a:r>
            <a:r>
              <a:rPr lang="ru-RU" altLang="ru-RU" sz="1600" dirty="0"/>
              <a:t> М., </a:t>
            </a:r>
            <a:r>
              <a:rPr lang="ru-RU" altLang="ru-RU" sz="1600" dirty="0" err="1"/>
              <a:t>Гетинтемел</a:t>
            </a:r>
            <a:r>
              <a:rPr lang="ru-RU" altLang="ru-RU" sz="1600" dirty="0"/>
              <a:t> У., </a:t>
            </a:r>
            <a:r>
              <a:rPr lang="ru-RU" altLang="ru-RU" sz="1600" dirty="0" err="1"/>
              <a:t>Здоник</a:t>
            </a:r>
            <a:r>
              <a:rPr lang="ru-RU" altLang="ru-RU" sz="1600" dirty="0"/>
              <a:t> С. Восемь требований к системе потоковой обработки в реальном времени / Перевод - </a:t>
            </a:r>
            <a:r>
              <a:rPr lang="ru-RU" altLang="ru-RU" sz="1600" dirty="0" err="1"/>
              <a:t>С.Кузнецов</a:t>
            </a:r>
            <a:r>
              <a:rPr lang="ru-RU" altLang="ru-RU" sz="1600" dirty="0"/>
              <a:t>. Оригинал: </a:t>
            </a:r>
            <a:r>
              <a:rPr lang="en-US" altLang="ru-RU" sz="1600" dirty="0"/>
              <a:t>The 8 Requirements of Real-Time Stream Processing, SIGMOD Record, Vol. 34, No. 4, Dec. 2005. URL: </a:t>
            </a:r>
            <a:r>
              <a:rPr lang="en-US" altLang="ru-RU" sz="1600" dirty="0">
                <a:hlinkClick r:id="rId3"/>
              </a:rPr>
              <a:t>http://citforum.ru/database/articles/stream_8_req/</a:t>
            </a:r>
            <a:r>
              <a:rPr lang="en-US" altLang="ru-RU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/>
              <a:t>Якобс А. Патологии больших данных / Перевод: </a:t>
            </a:r>
            <a:r>
              <a:rPr lang="ru-RU" altLang="ru-RU" sz="1600" dirty="0" err="1"/>
              <a:t>С.Кузнецов</a:t>
            </a:r>
            <a:r>
              <a:rPr lang="ru-RU" altLang="ru-RU" sz="1600" dirty="0"/>
              <a:t>. Оригинал: </a:t>
            </a:r>
            <a:r>
              <a:rPr lang="en-US" altLang="ru-RU" sz="1600" dirty="0"/>
              <a:t>Adam Jacobs. The Pathologies of Big Data. ACM Queue, Volume 7 , Issue 6 (July 2009). URL: </a:t>
            </a:r>
            <a:r>
              <a:rPr lang="en-US" altLang="ru-RU" sz="1600" dirty="0">
                <a:hlinkClick r:id="rId4"/>
              </a:rPr>
              <a:t>http://citforum.ru/database/articles/pathology/</a:t>
            </a:r>
            <a:r>
              <a:rPr lang="en-US" altLang="ru-RU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/>
              <a:t>Кузнецов </a:t>
            </a:r>
            <a:r>
              <a:rPr lang="en-US" altLang="ru-RU" sz="1600" dirty="0"/>
              <a:t>C. MapReduce: </a:t>
            </a:r>
            <a:r>
              <a:rPr lang="ru-RU" altLang="ru-RU" sz="1600" dirty="0"/>
              <a:t>внутри, снаружи или сбоку от параллельных СУБД? / </a:t>
            </a:r>
            <a:r>
              <a:rPr lang="en-US" altLang="ru-RU" sz="1600" dirty="0"/>
              <a:t>URL: </a:t>
            </a:r>
            <a:r>
              <a:rPr lang="en-US" altLang="ru-RU" sz="1600" dirty="0">
                <a:hlinkClick r:id="rId5"/>
              </a:rPr>
              <a:t>http://citforum.ru/database/articles/dw_appliance_and_mr/</a:t>
            </a:r>
            <a:r>
              <a:rPr lang="en-US" altLang="ru-RU" sz="1600" dirty="0"/>
              <a:t>  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/>
              <a:t>Горбенко И. </a:t>
            </a:r>
            <a:r>
              <a:rPr lang="ru-RU" sz="1600" dirty="0"/>
              <a:t>Архитектура хранилищ данных: традиционная и облачная. </a:t>
            </a:r>
            <a:r>
              <a:rPr lang="en-US" sz="1600" dirty="0"/>
              <a:t>URL: </a:t>
            </a:r>
            <a:r>
              <a:rPr lang="en-US" sz="1600" dirty="0">
                <a:hlinkClick r:id="rId6"/>
              </a:rPr>
              <a:t>https://habr.com/ru/post/441538/</a:t>
            </a:r>
            <a:r>
              <a:rPr lang="en-US" sz="1600" dirty="0"/>
              <a:t> </a:t>
            </a:r>
            <a:endParaRPr lang="ru-RU" sz="1600" dirty="0"/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 err="1"/>
              <a:t>Bulletin</a:t>
            </a:r>
            <a:r>
              <a:rPr lang="ru-RU" altLang="ru-RU" sz="1600" dirty="0"/>
              <a:t> </a:t>
            </a:r>
            <a:r>
              <a:rPr lang="ru-RU" altLang="ru-RU" sz="1600" dirty="0" err="1"/>
              <a:t>of</a:t>
            </a:r>
            <a:r>
              <a:rPr lang="ru-RU" altLang="ru-RU" sz="1600" dirty="0"/>
              <a:t> </a:t>
            </a:r>
            <a:r>
              <a:rPr lang="ru-RU" altLang="ru-RU" sz="1600" dirty="0" err="1"/>
              <a:t>the</a:t>
            </a:r>
            <a:r>
              <a:rPr lang="ru-RU" altLang="ru-RU" sz="1600" dirty="0"/>
              <a:t> </a:t>
            </a:r>
            <a:r>
              <a:rPr lang="ru-RU" altLang="ru-RU" sz="1600" dirty="0" err="1"/>
              <a:t>Technical</a:t>
            </a:r>
            <a:r>
              <a:rPr lang="ru-RU" altLang="ru-RU" sz="1600" dirty="0"/>
              <a:t> </a:t>
            </a:r>
            <a:r>
              <a:rPr lang="ru-RU" altLang="ru-RU" sz="1600" dirty="0" err="1"/>
              <a:t>Committee</a:t>
            </a:r>
            <a:r>
              <a:rPr lang="ru-RU" altLang="ru-RU" sz="1600" dirty="0"/>
              <a:t> </a:t>
            </a:r>
            <a:r>
              <a:rPr lang="ru-RU" altLang="ru-RU" sz="1600" dirty="0" err="1"/>
              <a:t>on</a:t>
            </a:r>
            <a:r>
              <a:rPr lang="ru-RU" altLang="ru-RU" sz="1600" dirty="0"/>
              <a:t> </a:t>
            </a:r>
            <a:r>
              <a:rPr lang="ru-RU" altLang="ru-RU" sz="1600" dirty="0" err="1"/>
              <a:t>Data</a:t>
            </a:r>
            <a:r>
              <a:rPr lang="ru-RU" altLang="ru-RU" sz="1600" dirty="0"/>
              <a:t> </a:t>
            </a:r>
            <a:r>
              <a:rPr lang="ru-RU" altLang="ru-RU" sz="1600" dirty="0" err="1"/>
              <a:t>Engineering</a:t>
            </a:r>
            <a:r>
              <a:rPr lang="ru-RU" altLang="ru-RU" sz="1600" dirty="0"/>
              <a:t>, </a:t>
            </a:r>
            <a:r>
              <a:rPr lang="ru-RU" altLang="ru-RU" sz="1600" dirty="0" err="1"/>
              <a:t>March</a:t>
            </a:r>
            <a:r>
              <a:rPr lang="ru-RU" altLang="ru-RU" sz="1600" dirty="0"/>
              <a:t> 2003, </a:t>
            </a:r>
            <a:r>
              <a:rPr lang="ru-RU" altLang="ru-RU" sz="1600" dirty="0" err="1"/>
              <a:t>Vol</a:t>
            </a:r>
            <a:r>
              <a:rPr lang="ru-RU" altLang="ru-RU" sz="1600" dirty="0"/>
              <a:t>. 26, </a:t>
            </a:r>
            <a:r>
              <a:rPr lang="ru-RU" altLang="ru-RU" sz="1600" dirty="0" err="1"/>
              <a:t>No</a:t>
            </a:r>
            <a:r>
              <a:rPr lang="ru-RU" altLang="ru-RU" sz="1600" dirty="0"/>
              <a:t>. 1. 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 err="1"/>
              <a:t>Julian</a:t>
            </a:r>
            <a:r>
              <a:rPr lang="ru-RU" altLang="ru-RU" sz="1600" dirty="0"/>
              <a:t> </a:t>
            </a:r>
            <a:r>
              <a:rPr lang="ru-RU" altLang="ru-RU" sz="1600" dirty="0" err="1"/>
              <a:t>Hyde</a:t>
            </a:r>
            <a:r>
              <a:rPr lang="ru-RU" altLang="ru-RU" sz="1600" dirty="0"/>
              <a:t>. </a:t>
            </a:r>
            <a:r>
              <a:rPr lang="ru-RU" altLang="ru-RU" sz="1600" dirty="0" err="1"/>
              <a:t>Data</a:t>
            </a:r>
            <a:r>
              <a:rPr lang="ru-RU" altLang="ru-RU" sz="1600" dirty="0"/>
              <a:t> </a:t>
            </a:r>
            <a:r>
              <a:rPr lang="ru-RU" altLang="ru-RU" sz="1600" dirty="0" err="1"/>
              <a:t>in</a:t>
            </a:r>
            <a:r>
              <a:rPr lang="ru-RU" altLang="ru-RU" sz="1600" dirty="0"/>
              <a:t> </a:t>
            </a:r>
            <a:r>
              <a:rPr lang="ru-RU" altLang="ru-RU" sz="1600" dirty="0" err="1"/>
              <a:t>Flight</a:t>
            </a:r>
            <a:r>
              <a:rPr lang="ru-RU" altLang="ru-RU" sz="1600" dirty="0"/>
              <a:t>. </a:t>
            </a:r>
            <a:r>
              <a:rPr lang="ru-RU" altLang="ru-RU" sz="1600" dirty="0" err="1"/>
              <a:t>How</a:t>
            </a:r>
            <a:r>
              <a:rPr lang="ru-RU" altLang="ru-RU" sz="1600" dirty="0"/>
              <a:t> </a:t>
            </a:r>
            <a:r>
              <a:rPr lang="ru-RU" altLang="ru-RU" sz="1600" dirty="0" err="1"/>
              <a:t>streaming</a:t>
            </a:r>
            <a:r>
              <a:rPr lang="ru-RU" altLang="ru-RU" sz="1600" dirty="0"/>
              <a:t> SQL </a:t>
            </a:r>
            <a:r>
              <a:rPr lang="ru-RU" altLang="ru-RU" sz="1600" dirty="0" err="1"/>
              <a:t>technology</a:t>
            </a:r>
            <a:r>
              <a:rPr lang="ru-RU" altLang="ru-RU" sz="1600" dirty="0"/>
              <a:t> </a:t>
            </a:r>
            <a:r>
              <a:rPr lang="ru-RU" altLang="ru-RU" sz="1600" dirty="0" err="1"/>
              <a:t>can</a:t>
            </a:r>
            <a:r>
              <a:rPr lang="ru-RU" altLang="ru-RU" sz="1600" dirty="0"/>
              <a:t> </a:t>
            </a:r>
            <a:r>
              <a:rPr lang="ru-RU" altLang="ru-RU" sz="1600" dirty="0" err="1"/>
              <a:t>help</a:t>
            </a:r>
            <a:r>
              <a:rPr lang="ru-RU" altLang="ru-RU" sz="1600" dirty="0"/>
              <a:t> </a:t>
            </a:r>
            <a:r>
              <a:rPr lang="ru-RU" altLang="ru-RU" sz="1600" dirty="0" err="1"/>
              <a:t>solve</a:t>
            </a:r>
            <a:r>
              <a:rPr lang="ru-RU" altLang="ru-RU" sz="1600" dirty="0"/>
              <a:t> </a:t>
            </a:r>
            <a:r>
              <a:rPr lang="ru-RU" altLang="ru-RU" sz="1600" dirty="0" err="1"/>
              <a:t>the</a:t>
            </a:r>
            <a:r>
              <a:rPr lang="ru-RU" altLang="ru-RU" sz="1600" dirty="0"/>
              <a:t> </a:t>
            </a:r>
            <a:r>
              <a:rPr lang="ru-RU" altLang="ru-RU" sz="1600" dirty="0" err="1"/>
              <a:t>Web</a:t>
            </a:r>
            <a:r>
              <a:rPr lang="ru-RU" altLang="ru-RU" sz="1600" dirty="0"/>
              <a:t> 2.0 </a:t>
            </a:r>
            <a:r>
              <a:rPr lang="ru-RU" altLang="ru-RU" sz="1600" dirty="0" err="1"/>
              <a:t>data</a:t>
            </a:r>
            <a:r>
              <a:rPr lang="ru-RU" altLang="ru-RU" sz="1600" dirty="0"/>
              <a:t> </a:t>
            </a:r>
            <a:r>
              <a:rPr lang="ru-RU" altLang="ru-RU" sz="1600" dirty="0" err="1"/>
              <a:t>crunch</a:t>
            </a:r>
            <a:r>
              <a:rPr lang="ru-RU" altLang="ru-RU" sz="1600" dirty="0"/>
              <a:t>. ACM </a:t>
            </a:r>
            <a:r>
              <a:rPr lang="ru-RU" altLang="ru-RU" sz="1600" dirty="0" err="1"/>
              <a:t>Queue</a:t>
            </a:r>
            <a:r>
              <a:rPr lang="ru-RU" altLang="ru-RU" sz="1600" dirty="0"/>
              <a:t>, </a:t>
            </a:r>
            <a:r>
              <a:rPr lang="ru-RU" altLang="ru-RU" sz="1600" dirty="0" err="1"/>
              <a:t>vol</a:t>
            </a:r>
            <a:r>
              <a:rPr lang="ru-RU" altLang="ru-RU" sz="1600" dirty="0"/>
              <a:t>. 7, </a:t>
            </a:r>
            <a:r>
              <a:rPr lang="ru-RU" altLang="ru-RU" sz="1600" dirty="0" err="1"/>
              <a:t>no</a:t>
            </a:r>
            <a:r>
              <a:rPr lang="ru-RU" altLang="ru-RU" sz="1600" dirty="0"/>
              <a:t>. 11, </a:t>
            </a:r>
            <a:r>
              <a:rPr lang="ru-RU" altLang="ru-RU" sz="1600" dirty="0" err="1"/>
              <a:t>December</a:t>
            </a:r>
            <a:r>
              <a:rPr lang="ru-RU" altLang="ru-RU" sz="1600" dirty="0"/>
              <a:t> 2009.</a:t>
            </a:r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/>
              <a:t>Трофимова</a:t>
            </a:r>
            <a:r>
              <a:rPr lang="en-US" altLang="ru-RU" sz="1600" dirty="0"/>
              <a:t> </a:t>
            </a:r>
            <a:r>
              <a:rPr lang="ru-RU" altLang="ru-RU" sz="1600" dirty="0"/>
              <a:t>П. СХД для потоковых данных: проблемы и решения. </a:t>
            </a:r>
            <a:r>
              <a:rPr lang="pl-PL" altLang="ru-RU" sz="1600" dirty="0"/>
              <a:t>Storage News № 2 (46), 2011, </a:t>
            </a:r>
            <a:r>
              <a:rPr lang="pl-PL" altLang="ru-RU" sz="1600" dirty="0">
                <a:hlinkClick r:id="rId7"/>
              </a:rPr>
              <a:t>www.storagenews.ru</a:t>
            </a:r>
            <a:r>
              <a:rPr lang="en-US" altLang="ru-RU" sz="1600" dirty="0"/>
              <a:t> </a:t>
            </a:r>
            <a:endParaRPr lang="ru-RU" altLang="ru-RU" sz="1600" dirty="0"/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 err="1"/>
              <a:t>StreamBase</a:t>
            </a:r>
            <a:r>
              <a:rPr lang="ru-RU" altLang="ru-RU" sz="1600" dirty="0"/>
              <a:t>:  </a:t>
            </a:r>
            <a:r>
              <a:rPr lang="en-US" altLang="ru-RU" sz="1600" dirty="0">
                <a:hlinkClick r:id="rId8"/>
              </a:rPr>
              <a:t>http://www.streambase.com/</a:t>
            </a:r>
            <a:r>
              <a:rPr lang="en-US" altLang="ru-RU" sz="1600" dirty="0"/>
              <a:t> </a:t>
            </a:r>
            <a:endParaRPr lang="ru-RU" altLang="ru-RU" sz="1600" dirty="0"/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altLang="ru-RU" sz="1600" dirty="0" err="1"/>
              <a:t>SQLStream</a:t>
            </a:r>
            <a:r>
              <a:rPr lang="ru-RU" altLang="ru-RU" sz="1600" dirty="0"/>
              <a:t>:  </a:t>
            </a:r>
            <a:r>
              <a:rPr lang="en-US" altLang="ru-RU" sz="1600" dirty="0">
                <a:hlinkClick r:id="rId9"/>
              </a:rPr>
              <a:t>http://www.sqlstream.com/</a:t>
            </a:r>
            <a:endParaRPr lang="en-US" altLang="ru-RU" sz="1600" dirty="0"/>
          </a:p>
          <a:p>
            <a:pPr marL="457200" indent="-457200" algn="just">
              <a:buFont typeface="Times New Roman" pitchFamily="18" charset="0"/>
              <a:buAutoNum type="arabicPeriod"/>
            </a:pPr>
            <a:r>
              <a:rPr lang="ru-RU" sz="1600" dirty="0"/>
              <a:t>Перепелица В. Архитектура </a:t>
            </a:r>
            <a:r>
              <a:rPr lang="ru-RU" sz="1600" dirty="0" err="1"/>
              <a:t>in-memory</a:t>
            </a:r>
            <a:r>
              <a:rPr lang="ru-RU" sz="1600" dirty="0"/>
              <a:t> СУБД: 10 лет опыта в одной статье</a:t>
            </a:r>
            <a:r>
              <a:rPr lang="en-US" sz="1600" dirty="0"/>
              <a:t>. </a:t>
            </a:r>
            <a:r>
              <a:rPr lang="en-GB" altLang="ru-RU" sz="1600" dirty="0"/>
              <a:t>- URL: </a:t>
            </a:r>
            <a:r>
              <a:rPr lang="en-GB" altLang="ru-RU" sz="1600" dirty="0">
                <a:hlinkClick r:id="rId10"/>
              </a:rPr>
              <a:t>https://habr.com/ru/companies/vk/articles/562192/</a:t>
            </a:r>
            <a:r>
              <a:rPr lang="en-GB" altLang="ru-RU" sz="1600" dirty="0"/>
              <a:t> </a:t>
            </a:r>
            <a:endParaRPr lang="ru-RU" altLang="ru-RU" sz="16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55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818370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32656"/>
            <a:ext cx="8229600" cy="773113"/>
          </a:xfrm>
        </p:spPr>
        <p:txBody>
          <a:bodyPr/>
          <a:lstStyle/>
          <a:p>
            <a:pPr algn="ctr" eaLnBrk="1" hangingPunct="1"/>
            <a:r>
              <a:rPr lang="ru-RU" altLang="ru-RU" sz="3200" b="1" dirty="0"/>
              <a:t>Список источников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512" y="980728"/>
            <a:ext cx="878497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 startAt="12"/>
            </a:pPr>
            <a:r>
              <a:rPr lang="en-US" sz="1600" dirty="0"/>
              <a:t>Ian Robinson, Jim Webber and Emil </a:t>
            </a:r>
            <a:r>
              <a:rPr lang="en-US" sz="1600" dirty="0" err="1"/>
              <a:t>Eifrem</a:t>
            </a:r>
            <a:r>
              <a:rPr lang="ru-RU" sz="1600" dirty="0"/>
              <a:t>. </a:t>
            </a:r>
            <a:r>
              <a:rPr lang="en-US" sz="1600" dirty="0"/>
              <a:t>Graph Databases /</a:t>
            </a:r>
            <a:r>
              <a:rPr lang="ru-RU" sz="1600" dirty="0"/>
              <a:t> </a:t>
            </a:r>
            <a:r>
              <a:rPr lang="en-US" sz="1600" dirty="0"/>
              <a:t>URL: </a:t>
            </a:r>
            <a:r>
              <a:rPr lang="en-US" sz="1600" dirty="0">
                <a:hlinkClick r:id="rId2"/>
              </a:rPr>
              <a:t>http://www.bookre.org/reader?file=2228218</a:t>
            </a:r>
            <a:r>
              <a:rPr lang="en-US" sz="1600" dirty="0"/>
              <a:t> </a:t>
            </a:r>
            <a:endParaRPr lang="ru-RU" sz="1600" dirty="0"/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Шпагин Д. Знакомство с </a:t>
            </a:r>
            <a:r>
              <a:rPr lang="ru-RU" sz="1600" dirty="0" err="1"/>
              <a:t>графовой</a:t>
            </a:r>
            <a:r>
              <a:rPr lang="ru-RU" sz="1600" dirty="0"/>
              <a:t> базой данных Neo4j. </a:t>
            </a:r>
            <a:r>
              <a:rPr lang="en-US" sz="1600" dirty="0"/>
              <a:t>URL: </a:t>
            </a:r>
            <a:r>
              <a:rPr lang="en-US" sz="1600" dirty="0">
                <a:hlinkClick r:id="rId3"/>
              </a:rPr>
              <a:t>https://sofakingcode.medium.com/</a:t>
            </a:r>
            <a:r>
              <a:rPr lang="ru-RU" sz="1600" dirty="0">
                <a:hlinkClick r:id="rId3"/>
              </a:rPr>
              <a:t>экскурс-в-</a:t>
            </a:r>
            <a:r>
              <a:rPr lang="ru-RU" sz="1600" dirty="0" err="1">
                <a:hlinkClick r:id="rId3"/>
              </a:rPr>
              <a:t>графовая</a:t>
            </a:r>
            <a:r>
              <a:rPr lang="ru-RU" sz="1600" dirty="0">
                <a:hlinkClick r:id="rId3"/>
              </a:rPr>
              <a:t>-базу-данных-</a:t>
            </a:r>
            <a:r>
              <a:rPr lang="en-US" sz="1600" dirty="0">
                <a:hlinkClick r:id="rId3"/>
              </a:rPr>
              <a:t>neo4j-9d5c515186e8</a:t>
            </a:r>
            <a:r>
              <a:rPr lang="ru-RU" sz="1600" dirty="0"/>
              <a:t> </a:t>
            </a:r>
            <a:endParaRPr lang="en-US" sz="1600" dirty="0"/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Большие данные (</a:t>
            </a:r>
            <a:r>
              <a:rPr lang="ru-RU" sz="1600" dirty="0" err="1"/>
              <a:t>Big</a:t>
            </a:r>
            <a:r>
              <a:rPr lang="ru-RU" sz="1600" dirty="0"/>
              <a:t> </a:t>
            </a:r>
            <a:r>
              <a:rPr lang="ru-RU" sz="1600" dirty="0" err="1"/>
              <a:t>Data</a:t>
            </a:r>
            <a:r>
              <a:rPr lang="ru-RU" sz="1600" dirty="0"/>
              <a:t>). // TADVISER – 2015.</a:t>
            </a:r>
            <a:r>
              <a:rPr lang="en-US" sz="1600" dirty="0"/>
              <a:t> URL: </a:t>
            </a:r>
            <a:r>
              <a:rPr lang="ru-RU" sz="1600" dirty="0">
                <a:hlinkClick r:id="rId4"/>
              </a:rPr>
              <a:t>http://www.tadviser.ru/index.php/Статья:Большие_данные_(Big_Data)</a:t>
            </a:r>
            <a:r>
              <a:rPr lang="en-US" sz="1600" dirty="0"/>
              <a:t> </a:t>
            </a:r>
            <a:endParaRPr lang="ru-RU" sz="1600" dirty="0"/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Сергей Артемов. Большие Данные = большая проблема? // </a:t>
            </a:r>
            <a:r>
              <a:rPr lang="ru-RU" sz="1600" dirty="0" err="1"/>
              <a:t>Jet</a:t>
            </a:r>
            <a:r>
              <a:rPr lang="ru-RU" sz="1600" dirty="0"/>
              <a:t> </a:t>
            </a:r>
            <a:r>
              <a:rPr lang="ru-RU" sz="1600" dirty="0" err="1"/>
              <a:t>Info</a:t>
            </a:r>
            <a:r>
              <a:rPr lang="ru-RU" sz="1600" dirty="0"/>
              <a:t> / </a:t>
            </a:r>
            <a:r>
              <a:rPr lang="ru-RU" sz="1600" dirty="0" err="1"/>
              <a:t>online</a:t>
            </a:r>
            <a:r>
              <a:rPr lang="ru-RU" sz="1600" dirty="0"/>
              <a:t> – 2012. </a:t>
            </a:r>
            <a:r>
              <a:rPr lang="en-US" sz="1600" dirty="0"/>
              <a:t>URL: </a:t>
            </a:r>
            <a:r>
              <a:rPr lang="ru-RU" sz="1600" dirty="0">
                <a:hlinkClick r:id="rId5"/>
              </a:rPr>
              <a:t>http://www.jetinfo.ru/author/sergej-artemov/bolshie-dannye-bolshaya-problema</a:t>
            </a:r>
            <a:r>
              <a:rPr lang="en-US" sz="1600" dirty="0"/>
              <a:t>  </a:t>
            </a:r>
            <a:endParaRPr lang="ru-RU" sz="1600" dirty="0"/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Революция </a:t>
            </a:r>
            <a:r>
              <a:rPr lang="ru-RU" sz="1600" dirty="0" err="1"/>
              <a:t>Big</a:t>
            </a:r>
            <a:r>
              <a:rPr lang="ru-RU" sz="1600" dirty="0"/>
              <a:t> </a:t>
            </a:r>
            <a:r>
              <a:rPr lang="ru-RU" sz="1600" dirty="0" err="1"/>
              <a:t>Data</a:t>
            </a:r>
            <a:r>
              <a:rPr lang="ru-RU" sz="1600" dirty="0"/>
              <a:t>: Как извлечь необходимую информацию из «Больших Данных»? // </a:t>
            </a:r>
            <a:r>
              <a:rPr lang="ru-RU" sz="1600" dirty="0" err="1"/>
              <a:t>StatSoft</a:t>
            </a:r>
            <a:r>
              <a:rPr lang="ru-RU" sz="1600" dirty="0"/>
              <a:t>– 2014. </a:t>
            </a:r>
            <a:r>
              <a:rPr lang="ru-RU" sz="1600" dirty="0">
                <a:hlinkClick r:id="rId6"/>
              </a:rPr>
              <a:t>http://www.statsoft.ru/products/Enterprise/big-data.php</a:t>
            </a:r>
            <a:r>
              <a:rPr lang="en-US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Официальный сайт </a:t>
            </a:r>
            <a:r>
              <a:rPr lang="en-US" sz="1600" dirty="0" err="1"/>
              <a:t>SciDB</a:t>
            </a:r>
            <a:r>
              <a:rPr lang="en-US" sz="1600" dirty="0"/>
              <a:t>. URL: </a:t>
            </a:r>
            <a:r>
              <a:rPr lang="en-US" sz="1600" dirty="0">
                <a:hlinkClick r:id="rId7"/>
              </a:rPr>
              <a:t>http://scidb.sourceforge.net/</a:t>
            </a:r>
            <a:r>
              <a:rPr lang="en-US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en-US" sz="1600" dirty="0" err="1"/>
              <a:t>SCiDB</a:t>
            </a:r>
            <a:r>
              <a:rPr lang="en-US" sz="1600" dirty="0"/>
              <a:t>. URL: </a:t>
            </a:r>
            <a:r>
              <a:rPr lang="en-US" sz="1600" dirty="0">
                <a:hlinkClick r:id="rId8"/>
              </a:rPr>
              <a:t>https://dbdb.io/db/scidb</a:t>
            </a:r>
            <a:r>
              <a:rPr lang="en-US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Официальный сайт </a:t>
            </a:r>
            <a:r>
              <a:rPr lang="en-US" sz="1600" dirty="0"/>
              <a:t>MongoDB. URL: </a:t>
            </a:r>
            <a:r>
              <a:rPr lang="en-US" sz="1600" dirty="0">
                <a:hlinkClick r:id="rId9"/>
              </a:rPr>
              <a:t>https://www.mongodb.com/</a:t>
            </a:r>
            <a:r>
              <a:rPr lang="en-US" sz="1600" dirty="0"/>
              <a:t> </a:t>
            </a: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 err="1"/>
              <a:t>NoSQL</a:t>
            </a:r>
            <a:r>
              <a:rPr lang="ru-RU" sz="1600" dirty="0"/>
              <a:t>. Материал из Национальной библиотеки им. Н. Э. Баумана.</a:t>
            </a:r>
            <a:r>
              <a:rPr lang="en-US" sz="1600" dirty="0"/>
              <a:t> URL: </a:t>
            </a:r>
            <a:r>
              <a:rPr lang="en-US" sz="1600" dirty="0">
                <a:hlinkClick r:id="rId10"/>
              </a:rPr>
              <a:t>https://ru.bmstu.wiki/NoSQL</a:t>
            </a:r>
            <a:endParaRPr lang="en-US" sz="1600" dirty="0"/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«Вечная </a:t>
            </a:r>
            <a:r>
              <a:rPr lang="ru-RU" sz="1600" dirty="0" err="1"/>
              <a:t>флешка</a:t>
            </a:r>
            <a:r>
              <a:rPr lang="ru-RU" sz="1600" dirty="0"/>
              <a:t>»: как создать надежный носитель, который сохранит данные на </a:t>
            </a:r>
            <a:r>
              <a:rPr lang="ru-RU" sz="1600" dirty="0">
                <a:latin typeface="+mn-lt"/>
              </a:rPr>
              <a:t>тысячи лет. </a:t>
            </a:r>
            <a:r>
              <a:rPr lang="en-US" sz="1600" dirty="0">
                <a:latin typeface="+mn-lt"/>
              </a:rPr>
              <a:t>URL: </a:t>
            </a:r>
            <a:r>
              <a:rPr lang="ru-RU" sz="1600" dirty="0">
                <a:latin typeface="+mn-lt"/>
                <a:hlinkClick r:id="rId11"/>
              </a:rPr>
              <a:t>https://habr.com/ru/company/fpi_russia/blog/315886/</a:t>
            </a:r>
            <a:endParaRPr lang="en-US" sz="1600" dirty="0">
              <a:latin typeface="+mn-lt"/>
            </a:endParaRP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fr-FR" sz="1600" dirty="0">
                <a:latin typeface="+mn-lt"/>
                <a:cs typeface="Times New Roman" pitchFamily="18" charset="0"/>
              </a:rPr>
              <a:t>PostgreSQL 9.0.23 Documentation. Appendix F. Additional Supplied Modules. URL: </a:t>
            </a:r>
            <a:r>
              <a:rPr lang="fr-FR" sz="1600" dirty="0">
                <a:latin typeface="+mn-lt"/>
                <a:cs typeface="Times New Roman" pitchFamily="18" charset="0"/>
                <a:hlinkClick r:id="rId12"/>
              </a:rPr>
              <a:t>https://www.postgresql.org/docs/9.0/hstore.html</a:t>
            </a:r>
            <a:r>
              <a:rPr lang="fr-FR" sz="1600" dirty="0">
                <a:latin typeface="+mn-lt"/>
                <a:cs typeface="Times New Roman" pitchFamily="18" charset="0"/>
              </a:rPr>
              <a:t> </a:t>
            </a:r>
          </a:p>
          <a:p>
            <a:pPr marL="457200" indent="-457200" algn="just">
              <a:buFont typeface="Times New Roman" pitchFamily="18" charset="0"/>
              <a:buAutoNum type="arabicPeriod" startAt="12"/>
            </a:pPr>
            <a:r>
              <a:rPr lang="ru-RU" sz="1600" dirty="0"/>
              <a:t>Мировой рынок реляционных баз данных – тенденции отрасли и прогноз до 2031 года</a:t>
            </a:r>
            <a:r>
              <a:rPr lang="en-US" sz="1600" dirty="0"/>
              <a:t>. URL:</a:t>
            </a:r>
            <a:r>
              <a:rPr lang="en-US" sz="1400" dirty="0"/>
              <a:t> </a:t>
            </a:r>
            <a:r>
              <a:rPr lang="en-GB" sz="1400" dirty="0">
                <a:latin typeface="+mn-lt"/>
                <a:cs typeface="Times New Roman" pitchFamily="18" charset="0"/>
                <a:hlinkClick r:id="rId13"/>
              </a:rPr>
              <a:t>https://www.databridgemarketresearch.com/ru/reports/global-relational-database-market</a:t>
            </a:r>
            <a:r>
              <a:rPr lang="en-GB" sz="1600" dirty="0">
                <a:latin typeface="+mn-lt"/>
                <a:cs typeface="Times New Roman" pitchFamily="18" charset="0"/>
              </a:rPr>
              <a:t> </a:t>
            </a:r>
            <a:endParaRPr lang="ru-RU" sz="1600" dirty="0">
              <a:latin typeface="+mn-lt"/>
              <a:cs typeface="Times New Roman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C1A9B2-D4D8-430A-9B97-CD7626AC306E}" type="slidenum">
              <a:rPr lang="ru-RU" altLang="ru-RU" smtClean="0"/>
              <a:pPr>
                <a:defRPr/>
              </a:pPr>
              <a:t>56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98039660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4155</TotalTime>
  <Words>6918</Words>
  <Application>Microsoft Macintosh PowerPoint</Application>
  <PresentationFormat>Экран (4:3)</PresentationFormat>
  <Paragraphs>621</Paragraphs>
  <Slides>56</Slides>
  <Notes>10</Notes>
  <HiddenSlides>0</HiddenSlides>
  <MMClips>0</MMClips>
  <ScaleCrop>false</ScaleCrop>
  <HeadingPairs>
    <vt:vector size="10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Связи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7" baseType="lpstr">
      <vt:lpstr>Arial</vt:lpstr>
      <vt:lpstr>Arial Black</vt:lpstr>
      <vt:lpstr>Calibri</vt:lpstr>
      <vt:lpstr>Symbol</vt:lpstr>
      <vt:lpstr>Times New Roman</vt:lpstr>
      <vt:lpstr>Wingdings</vt:lpstr>
      <vt:lpstr>Пиксел</vt:lpstr>
      <vt:lpstr>1_Пиксел</vt:lpstr>
      <vt:lpstr>file:///C:\USR\Karpova\Online\VSD\Схемы_PPT.vsdx\Drawing\~РБД\Rounded%20Rectangle.57</vt:lpstr>
      <vt:lpstr>file:///C:\USR\Karpova\Online\VSD\Схемы_PPT.vsdx\Drawing\~РБД\Rounded%20Rectangle</vt:lpstr>
      <vt:lpstr>Рисунок</vt:lpstr>
      <vt:lpstr>Базы данных</vt:lpstr>
      <vt:lpstr>Предпосылки развития</vt:lpstr>
      <vt:lpstr>Основные направления и проблемы</vt:lpstr>
      <vt:lpstr>1. Реляционные СУБД</vt:lpstr>
      <vt:lpstr>2. In-memory databases</vt:lpstr>
      <vt:lpstr>3. Решение проблем оптимизации запросов</vt:lpstr>
      <vt:lpstr>4. Хранилища данных и OLAP-обработка</vt:lpstr>
      <vt:lpstr>Хранилища данных и OLAP-обработка</vt:lpstr>
      <vt:lpstr>Архитектура хранилища данных</vt:lpstr>
      <vt:lpstr>Виды данных в ХД</vt:lpstr>
      <vt:lpstr>Структура хранилища данных</vt:lpstr>
      <vt:lpstr>Структура хранилища данных</vt:lpstr>
      <vt:lpstr>Пример структуры ХД: схема "звезда"</vt:lpstr>
      <vt:lpstr>Пример структуры ХД: схема "снежинка"</vt:lpstr>
      <vt:lpstr>Инструменты и технологии ХД</vt:lpstr>
      <vt:lpstr>Варианты хранения данных в ХД</vt:lpstr>
      <vt:lpstr>5. Сохранность данных</vt:lpstr>
      <vt:lpstr>5. Хранение данных</vt:lpstr>
      <vt:lpstr>6. Работа с неточными и неполными данными</vt:lpstr>
      <vt:lpstr>Презентация PowerPoint</vt:lpstr>
      <vt:lpstr>Презентация PowerPoint</vt:lpstr>
      <vt:lpstr>Преимущества и недостатки РБД</vt:lpstr>
      <vt:lpstr>Методы поддержки распределенных данных</vt:lpstr>
      <vt:lpstr>Основные проблемы поддержки РБД</vt:lpstr>
      <vt:lpstr>"Новые" модели данных (NoSQL)</vt:lpstr>
      <vt:lpstr>NoSQL: основные характеристики</vt:lpstr>
      <vt:lpstr>NoSQL: поддержка распределенности</vt:lpstr>
      <vt:lpstr>NoSQL: модели согласованности данных</vt:lpstr>
      <vt:lpstr>NoSQL: модели данных</vt:lpstr>
      <vt:lpstr>NoSQL: модели данных</vt:lpstr>
      <vt:lpstr>Презентация PowerPoint</vt:lpstr>
      <vt:lpstr>NoSQL: Redis</vt:lpstr>
      <vt:lpstr>Redis: общие сведения</vt:lpstr>
      <vt:lpstr>Транзакции в Redis</vt:lpstr>
      <vt:lpstr>NoSQL: MongoDB</vt:lpstr>
      <vt:lpstr>Document store</vt:lpstr>
      <vt:lpstr>Презентация PowerPoint</vt:lpstr>
      <vt:lpstr>Графовые базы данных: общие сведения</vt:lpstr>
      <vt:lpstr>Презентация PowerPoint</vt:lpstr>
      <vt:lpstr>NoSQL: графовые базы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NoSQL: колоночные хранилища</vt:lpstr>
      <vt:lpstr>Колоночные хранилища: Hbase </vt:lpstr>
      <vt:lpstr>Hbase: хранение данных</vt:lpstr>
      <vt:lpstr>Hbase: поддерживаемые операции</vt:lpstr>
      <vt:lpstr>Hbase: архитектура</vt:lpstr>
      <vt:lpstr>10. Big Data (большие данные)</vt:lpstr>
      <vt:lpstr>Характеристики больших данных</vt:lpstr>
      <vt:lpstr>Этапы работы с большими данными</vt:lpstr>
      <vt:lpstr>14. Мультимодельные СУБД</vt:lpstr>
      <vt:lpstr>Список источников</vt:lpstr>
      <vt:lpstr>Список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Базы данных</dc:title>
  <dc:creator>karpov</dc:creator>
  <cp:lastModifiedBy>Максим Ликсаков</cp:lastModifiedBy>
  <cp:revision>587</cp:revision>
  <dcterms:created xsi:type="dcterms:W3CDTF">2008-03-16T13:54:14Z</dcterms:created>
  <dcterms:modified xsi:type="dcterms:W3CDTF">2026-02-15T16:43:46Z</dcterms:modified>
</cp:coreProperties>
</file>